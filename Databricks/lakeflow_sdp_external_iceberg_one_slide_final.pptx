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47ae9e5a044f2c" /><Relationship Type="http://schemas.openxmlformats.org/officeDocument/2006/relationships/extended-properties" Target="/docProps/app.xml" Id="R0719e443233841a3" /><Relationship Type="http://schemas.openxmlformats.org/officeDocument/2006/relationships/officeDocument" Target="/ppt/presentation.xml" Id="R6046b2950f934b8c" /></Relationships>
</file>

<file path=ppt/presentation.xml><?xml version="1.0" encoding="utf-8"?>
<p:presentation xmlns:p="http://schemas.openxmlformats.org/presentationml/2006/main">
  <p:sldMasterIdLst>
    <p:sldMasterId xmlns:r="http://schemas.openxmlformats.org/officeDocument/2006/relationships" id="2147483648" r:id="R131c293782184649"/>
  </p:sldMasterIdLst>
  <p:notesMasterIdLst>
    <p:notesMasterId xmlns:r="http://schemas.openxmlformats.org/officeDocument/2006/relationships" r:id="R24f003e692604b08"/>
  </p:notesMasterIdLst>
  <p:sldIdLst>
    <p:sldId xmlns:r="http://schemas.openxmlformats.org/officeDocument/2006/relationships" id="256" r:id="R7ae21889efbc4a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6b2b7e0d3b4add" /><Relationship Type="http://schemas.openxmlformats.org/officeDocument/2006/relationships/slideMaster" Target="/ppt/slideMasters/slideMaster1.xml" Id="R131c293782184649" /><Relationship Type="http://schemas.openxmlformats.org/officeDocument/2006/relationships/notesMaster" Target="/ppt/notesMasters/notesMaster1.xml" Id="R24f003e692604b08" /><Relationship Type="http://schemas.openxmlformats.org/officeDocument/2006/relationships/presProps" Target="/ppt/presProps.xml" Id="Refada03146d341a4" /><Relationship Type="http://schemas.openxmlformats.org/officeDocument/2006/relationships/tableStyles" Target="/ppt/tableStyles.xml" Id="Re6985906d8424900" /><Relationship Type="http://schemas.openxmlformats.org/officeDocument/2006/relationships/slide" Target="/ppt/slides/slide1.xml" Id="R7ae21889efbc4a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a4252932aa4c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b3be08826d49e2" /><Relationship Type="http://schemas.openxmlformats.org/officeDocument/2006/relationships/notesMaster" Target="/ppt/notesMasters/notesMaster1.xml" Id="R610e3dfb6f594b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1. User-provided Notes.docx, Databricks SDP / Lakeflow Notes.</a:t>
            </a:r>
          </a:p>
          <a:p xmlns:a="http://schemas.openxmlformats.org/drawingml/2006/main">
            <a:r>
              <a:t>2. Databricks documentation, Use ForEachBatch to write to arbitrary data sinks in pipelines, updated Sep 11, 2026: https://docs.databricks.com/aws/en/ldp/for-each-batch</a:t>
            </a:r>
          </a:p>
          <a:p xmlns:a="http://schemas.openxmlformats.org/drawingml/2006/main">
            <a:r>
              <a:t/>
            </a:r>
          </a:p>
          <a:p xmlns:a="http://schemas.openxmlformats.org/drawingml/2006/main">
            <a:r>
              <a:t>Presenter cue: Start with target ownership. The blue route keeps target management inside SDP. The orange route keeps the target external and makes the team responsible for writes, cleanup, deduplication, and recovery. Use the lower lane for controlled historical backfills by audit_load_date.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e260bbe70e45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48a4763b2445e1" /><Relationship Type="http://schemas.openxmlformats.org/officeDocument/2006/relationships/slideLayout" Target="/ppt/slideLayouts/slideLayout1.xml" Id="R329d2691359b44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9d2691359b44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ea2422c8df461e" /><Relationship Type="http://schemas.openxmlformats.org/officeDocument/2006/relationships/notesSlide" Target="/ppt/notesSlides/notesSlide1.xml" Id="Rfcaa891f32ee4f8d"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36A39154-8842-40BB-9B2D-41F8973E9308}"/>
              </a:ext>
            </a:extLst>
          </p:cNvPr>
          <p:cNvSpPr>
            <a:spLocks xmlns:a="http://schemas.openxmlformats.org/drawingml/2006/main" noGrp="1"/>
          </p:cNvSpPr>
          <p:nvPr/>
        </p:nvSpPr>
        <p:spPr>
          <a:xfrm xmlns:a="http://schemas.openxmlformats.org/drawingml/2006/main">
            <a:off x="457200" y="228600"/>
            <a:ext cx="876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0B1F33"/>
                </a:solidFill>
                <a:latin typeface="Nimbus Sans"/>
                <a:ea typeface="Nimbus Sans"/>
                <a:cs typeface="Nimbus Sans"/>
              </a:defRPr>
            </a:pPr>
            <a:r>
              <a:rPr sz="2550" b="1">
                <a:solidFill>
                  <a:srgbClr val="0B1F33"/>
                </a:solidFill>
                <a:latin typeface="Nimbus Sans"/>
                <a:ea typeface="Nimbus Sans"/>
                <a:cs typeface="Nimbus Sans"/>
              </a:rPr>
              <a:t>Lakeflow SDP to an external Iceberg table</a:t>
            </a:r>
          </a:p>
        </p:txBody>
      </p:sp>
      <p:sp>
        <p:nvSpPr>
          <p:cNvPr id="2" name="">
            <a:extLst xmlns:a="http://schemas.openxmlformats.org/drawingml/2006/main">
              <a:ext uri="{FF2B5EF4-FFF2-40B4-BE49-F238E27FC236}">
                <a16:creationId xmlns:a16="http://schemas.microsoft.com/office/drawing/2014/main" id="{8164D862-417C-47C8-9F6A-5182C02D4BFD}"/>
              </a:ext>
            </a:extLst>
          </p:cNvPr>
          <p:cNvSpPr>
            <a:spLocks xmlns:a="http://schemas.openxmlformats.org/drawingml/2006/main" noGrp="1"/>
          </p:cNvSpPr>
          <p:nvPr/>
        </p:nvSpPr>
        <p:spPr>
          <a:xfrm xmlns:a="http://schemas.openxmlformats.org/drawingml/2006/main">
            <a:off x="466725" y="695325"/>
            <a:ext cx="8477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0">
                <a:solidFill>
                  <a:srgbClr val="5D7182"/>
                </a:solidFill>
                <a:latin typeface="Nimbus Sans"/>
                <a:ea typeface="Nimbus Sans"/>
                <a:cs typeface="Nimbus Sans"/>
              </a:defRPr>
            </a:pPr>
            <a:r>
              <a:rPr sz="1350" b="0">
                <a:solidFill>
                  <a:srgbClr val="5D7182"/>
                </a:solidFill>
                <a:latin typeface="Nimbus Sans"/>
                <a:ea typeface="Nimbus Sans"/>
                <a:cs typeface="Nimbus Sans"/>
              </a:rPr>
              <a:t>Target ownership determines whether the pipeline manages the write or your code writes explicitly</a:t>
            </a:r>
          </a:p>
        </p:txBody>
      </p:sp>
      <p:sp>
        <p:nvSpPr>
          <p:cNvPr id="3" name="">
            <a:extLst xmlns:a="http://schemas.openxmlformats.org/drawingml/2006/main">
              <a:ext uri="{FF2B5EF4-FFF2-40B4-BE49-F238E27FC236}">
                <a16:creationId xmlns:a16="http://schemas.microsoft.com/office/drawing/2014/main" id="{37EB80BF-44F5-4B33-B12F-D05A3F743BFE}"/>
              </a:ext>
            </a:extLst>
          </p:cNvPr>
          <p:cNvSpPr>
            <a:spLocks xmlns:a="http://schemas.openxmlformats.org/drawingml/2006/main" noGrp="1"/>
          </p:cNvSpPr>
          <p:nvPr/>
        </p:nvSpPr>
        <p:spPr>
          <a:xfrm xmlns:a="http://schemas.openxmlformats.org/drawingml/2006/main">
            <a:off x="457200" y="1066800"/>
            <a:ext cx="8477250" cy="0"/>
          </a:xfrm>
          <a:prstGeom xmlns:a="http://schemas.openxmlformats.org/drawingml/2006/main" prst="line">
            <a:avLst/>
          </a:prstGeom>
          <a:noFill xmlns:a="http://schemas.openxmlformats.org/drawingml/2006/main"/>
          <a:ln xmlns:a="http://schemas.openxmlformats.org/drawingml/2006/main" w="20955">
            <a:solidFill>
              <a:srgbClr val="1F6D9C"/>
            </a:solidFill>
            <a:prstDash val="solid"/>
          </a:ln>
        </p:spPr>
      </p:sp>
      <p:sp>
        <p:nvSpPr>
          <p:cNvPr id="4" name="">
            <a:extLst xmlns:a="http://schemas.openxmlformats.org/drawingml/2006/main">
              <a:ext uri="{FF2B5EF4-FFF2-40B4-BE49-F238E27FC236}">
                <a16:creationId xmlns:a16="http://schemas.microsoft.com/office/drawing/2014/main" id="{67272E03-C526-4568-AA76-8A83EC5EDEE8}"/>
              </a:ext>
            </a:extLst>
          </p:cNvPr>
          <p:cNvSpPr>
            <a:spLocks xmlns:a="http://schemas.openxmlformats.org/drawingml/2006/main" noGrp="1"/>
          </p:cNvSpPr>
          <p:nvPr/>
        </p:nvSpPr>
        <p:spPr>
          <a:xfrm xmlns:a="http://schemas.openxmlformats.org/drawingml/2006/main">
            <a:off x="9201150" y="333375"/>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90929"/>
          </a:bodyPr>
          <a:lstStyle xmlns:a="http://schemas.openxmlformats.org/drawingml/2006/main"/>
          <a:p xmlns:a="http://schemas.openxmlformats.org/drawingml/2006/main">
            <a:pPr algn="ctr">
              <a:lnSpc>
                <a:spcPct val="100000"/>
              </a:lnSpc>
              <a:buNone/>
              <a:defRPr sz="1013" b="1">
                <a:solidFill>
                  <a:srgbClr val="1F6D9C"/>
                </a:solidFill>
                <a:latin typeface="Nimbus Sans"/>
                <a:ea typeface="Nimbus Sans"/>
                <a:cs typeface="Nimbus Sans"/>
              </a:defRPr>
            </a:pPr>
            <a:r>
              <a:rPr sz="1013" b="1">
                <a:solidFill>
                  <a:srgbClr val="1F6D9C"/>
                </a:solidFill>
                <a:latin typeface="Nimbus Sans"/>
                <a:ea typeface="Nimbus Sans"/>
                <a:cs typeface="Nimbus Sans"/>
              </a:rPr>
              <a:t>BLUE  SDP managed</a:t>
            </a:r>
          </a:p>
        </p:txBody>
      </p:sp>
      <p:sp>
        <p:nvSpPr>
          <p:cNvPr id="5" name="">
            <a:extLst xmlns:a="http://schemas.openxmlformats.org/drawingml/2006/main">
              <a:ext uri="{FF2B5EF4-FFF2-40B4-BE49-F238E27FC236}">
                <a16:creationId xmlns:a16="http://schemas.microsoft.com/office/drawing/2014/main" id="{4A593534-2CCB-43DD-844F-51BC6D2FF6ED}"/>
              </a:ext>
            </a:extLst>
          </p:cNvPr>
          <p:cNvSpPr>
            <a:spLocks xmlns:a="http://schemas.openxmlformats.org/drawingml/2006/main" noGrp="1"/>
          </p:cNvSpPr>
          <p:nvPr/>
        </p:nvSpPr>
        <p:spPr>
          <a:xfrm xmlns:a="http://schemas.openxmlformats.org/drawingml/2006/main">
            <a:off x="10382250" y="333375"/>
            <a:ext cx="1352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4910"/>
          </a:bodyPr>
          <a:lstStyle xmlns:a="http://schemas.openxmlformats.org/drawingml/2006/main"/>
          <a:p xmlns:a="http://schemas.openxmlformats.org/drawingml/2006/main">
            <a:pPr algn="ctr">
              <a:lnSpc>
                <a:spcPct val="100000"/>
              </a:lnSpc>
              <a:buNone/>
              <a:defRPr sz="1013" b="1">
                <a:solidFill>
                  <a:srgbClr val="D98022"/>
                </a:solidFill>
                <a:latin typeface="Nimbus Sans"/>
                <a:ea typeface="Nimbus Sans"/>
                <a:cs typeface="Nimbus Sans"/>
              </a:defRPr>
            </a:pPr>
            <a:r>
              <a:rPr sz="1013" b="1">
                <a:solidFill>
                  <a:srgbClr val="D98022"/>
                </a:solidFill>
                <a:latin typeface="Nimbus Sans"/>
                <a:ea typeface="Nimbus Sans"/>
                <a:cs typeface="Nimbus Sans"/>
              </a:rPr>
              <a:t>ORANGE  explicit control</a:t>
            </a:r>
          </a:p>
        </p:txBody>
      </p:sp>
      <p:sp>
        <p:nvSpPr>
          <p:cNvPr id="6" name="">
            <a:extLst xmlns:a="http://schemas.openxmlformats.org/drawingml/2006/main">
              <a:ext uri="{FF2B5EF4-FFF2-40B4-BE49-F238E27FC236}">
                <a16:creationId xmlns:a16="http://schemas.microsoft.com/office/drawing/2014/main" id="{F77102ED-AA55-4582-88B1-744C90BA5C3D}"/>
              </a:ext>
            </a:extLst>
          </p:cNvPr>
          <p:cNvSpPr>
            <a:spLocks xmlns:a="http://schemas.openxmlformats.org/drawingml/2006/main" noGrp="1"/>
          </p:cNvSpPr>
          <p:nvPr/>
        </p:nvSpPr>
        <p:spPr>
          <a:xfrm xmlns:a="http://schemas.openxmlformats.org/drawingml/2006/main">
            <a:off x="1524000" y="1381125"/>
            <a:ext cx="6381750" cy="2952750"/>
          </a:xfrm>
          <a:prstGeom xmlns:a="http://schemas.openxmlformats.org/drawingml/2006/main" prst="roundRect">
            <a:avLst>
              <a:gd name="adj" fmla="val 3871"/>
            </a:avLst>
          </a:prstGeom>
          <a:solidFill xmlns:a="http://schemas.openxmlformats.org/drawingml/2006/main">
            <a:srgbClr val="EAF4F8"/>
          </a:solidFill>
          <a:ln xmlns:a="http://schemas.openxmlformats.org/drawingml/2006/main" w="14288">
            <a:solidFill>
              <a:srgbClr val="8FB7CB"/>
            </a:solidFill>
            <a:prstDash val="dash"/>
          </a:ln>
        </p:spPr>
      </p:sp>
      <p:sp>
        <p:nvSpPr>
          <p:cNvPr id="7" name="">
            <a:extLst xmlns:a="http://schemas.openxmlformats.org/drawingml/2006/main">
              <a:ext uri="{FF2B5EF4-FFF2-40B4-BE49-F238E27FC236}">
                <a16:creationId xmlns:a16="http://schemas.microsoft.com/office/drawing/2014/main" id="{6B137BE7-BBB5-44DE-A872-7A08A27CB820}"/>
              </a:ext>
            </a:extLst>
          </p:cNvPr>
          <p:cNvSpPr>
            <a:spLocks xmlns:a="http://schemas.openxmlformats.org/drawingml/2006/main" noGrp="1"/>
          </p:cNvSpPr>
          <p:nvPr/>
        </p:nvSpPr>
        <p:spPr>
          <a:xfrm xmlns:a="http://schemas.openxmlformats.org/drawingml/2006/main">
            <a:off x="1676400" y="14382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1F6D9C"/>
                </a:solidFill>
                <a:latin typeface="Nimbus Sans"/>
                <a:ea typeface="Nimbus Sans"/>
                <a:cs typeface="Nimbus Sans"/>
              </a:defRPr>
            </a:pPr>
            <a:r>
              <a:rPr sz="1050" b="1">
                <a:solidFill>
                  <a:srgbClr val="1F6D9C"/>
                </a:solidFill>
                <a:latin typeface="Nimbus Sans"/>
                <a:ea typeface="Nimbus Sans"/>
                <a:cs typeface="Nimbus Sans"/>
              </a:rPr>
              <a:t>LAKEFLOW SPARK DECLARATIVE PIPELINE</a:t>
            </a:r>
          </a:p>
        </p:txBody>
      </p:sp>
      <p:sp>
        <p:nvSpPr>
          <p:cNvPr id="8" name="">
            <a:extLst xmlns:a="http://schemas.openxmlformats.org/drawingml/2006/main">
              <a:ext uri="{FF2B5EF4-FFF2-40B4-BE49-F238E27FC236}">
                <a16:creationId xmlns:a16="http://schemas.microsoft.com/office/drawing/2014/main" id="{84E54B08-8C35-4D29-AE80-719BDEA75FC9}"/>
              </a:ext>
            </a:extLst>
          </p:cNvPr>
          <p:cNvSpPr>
            <a:spLocks xmlns:a="http://schemas.openxmlformats.org/drawingml/2006/main" noGrp="1"/>
          </p:cNvSpPr>
          <p:nvPr/>
        </p:nvSpPr>
        <p:spPr>
          <a:xfrm xmlns:a="http://schemas.openxmlformats.org/drawingml/2006/main">
            <a:off x="457200" y="1400175"/>
            <a:ext cx="1028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38100" rIns="28575" bIns="38100" anchor="ctr">
            <a:normAutofit fontScale="100000"/>
          </a:bodyPr>
          <a:lstStyle xmlns:a="http://schemas.openxmlformats.org/drawingml/2006/main"/>
          <a:p xmlns:a="http://schemas.openxmlformats.org/drawingml/2006/main">
            <a:pPr algn="ctr">
              <a:lnSpc>
                <a:spcPct val="100000"/>
              </a:lnSpc>
              <a:buNone/>
              <a:defRPr sz="1013" b="1">
                <a:solidFill>
                  <a:srgbClr val="1F6D9C"/>
                </a:solidFill>
                <a:latin typeface="Nimbus Sans"/>
                <a:ea typeface="Nimbus Sans"/>
                <a:cs typeface="Nimbus Sans"/>
              </a:defRPr>
            </a:pPr>
            <a:r>
              <a:rPr sz="1013" b="1">
                <a:solidFill>
                  <a:srgbClr val="1F6D9C"/>
                </a:solidFill>
                <a:latin typeface="Nimbus Sans"/>
                <a:ea typeface="Nimbus Sans"/>
                <a:cs typeface="Nimbus Sans"/>
              </a:rPr>
              <a:t>CONTINUOUS / INCREMENTAL</a:t>
            </a:r>
          </a:p>
        </p:txBody>
      </p:sp>
      <p:sp>
        <p:nvSpPr>
          <p:cNvPr id="9" name="">
            <a:extLst xmlns:a="http://schemas.openxmlformats.org/drawingml/2006/main">
              <a:ext uri="{FF2B5EF4-FFF2-40B4-BE49-F238E27FC236}">
                <a16:creationId xmlns:a16="http://schemas.microsoft.com/office/drawing/2014/main" id="{BA145529-066C-44A6-B1F1-AA343962D419}"/>
              </a:ext>
            </a:extLst>
          </p:cNvPr>
          <p:cNvSpPr>
            <a:spLocks xmlns:a="http://schemas.openxmlformats.org/drawingml/2006/main" noGrp="1"/>
          </p:cNvSpPr>
          <p:nvPr/>
        </p:nvSpPr>
        <p:spPr>
          <a:xfrm xmlns:a="http://schemas.openxmlformats.org/drawingml/2006/main">
            <a:off x="523875" y="1971675"/>
            <a:ext cx="914400" cy="609600"/>
          </a:xfrm>
          <a:prstGeom xmlns:a="http://schemas.openxmlformats.org/drawingml/2006/main" prst="can">
            <a:avLst/>
          </a:prstGeom>
          <a:solidFill xmlns:a="http://schemas.openxmlformats.org/drawingml/2006/main">
            <a:srgbClr val="FFFFFF"/>
          </a:solidFill>
          <a:ln xmlns:a="http://schemas.openxmlformats.org/drawingml/2006/main" w="17145">
            <a:solidFill>
              <a:srgbClr val="378DB7"/>
            </a:solidFill>
            <a:prstDash val="solid"/>
          </a:ln>
        </p:spPr>
        <p:txBody>
          <a:bodyPr xmlns:a="http://schemas.openxmlformats.org/drawingml/2006/main" wrap="square" lIns="66675" tIns="47625" rIns="66675" bIns="47625" anchor="ctr">
            <a:normAutofit fontScale="78125"/>
          </a:bodyPr>
          <a:lstStyle xmlns:a="http://schemas.openxmlformats.org/drawingml/2006/main"/>
          <a:p xmlns:a="http://schemas.openxmlformats.org/drawingml/2006/main">
            <a:pPr algn="ctr">
              <a:lnSpc>
                <a:spcPct val="100000"/>
              </a:lnSpc>
              <a:buNone/>
              <a:defRPr sz="1200" b="1">
                <a:solidFill>
                  <a:srgbClr val="0B1F33"/>
                </a:solidFill>
                <a:latin typeface="Nimbus Sans"/>
                <a:ea typeface="Nimbus Sans"/>
                <a:cs typeface="Nimbus Sans"/>
              </a:defRPr>
            </a:pPr>
            <a:r>
              <a:rPr sz="1200" b="1">
                <a:solidFill>
                  <a:srgbClr val="0B1F33"/>
                </a:solidFill>
                <a:latin typeface="Nimbus Sans"/>
                <a:ea typeface="Nimbus Sans"/>
                <a:cs typeface="Nimbus Sans"/>
              </a:rPr>
              <a:t>TABLE A</a:t>
            </a:r>
          </a:p>
          <a:p xmlns:a="http://schemas.openxmlformats.org/drawingml/2006/main">
            <a:pPr algn="ctr">
              <a:lnSpc>
                <a:spcPct val="100000"/>
              </a:lnSpc>
              <a:buNone/>
              <a:defRPr sz="1200" b="1">
                <a:solidFill>
                  <a:srgbClr val="0B1F33"/>
                </a:solidFill>
                <a:latin typeface="Nimbus Sans"/>
                <a:ea typeface="Nimbus Sans"/>
                <a:cs typeface="Nimbus Sans"/>
              </a:defRPr>
            </a:pPr>
            <a:r>
              <a:rPr sz="1200" b="1">
                <a:solidFill>
                  <a:srgbClr val="0B1F33"/>
                </a:solidFill>
                <a:latin typeface="Nimbus Sans"/>
                <a:ea typeface="Nimbus Sans"/>
                <a:cs typeface="Nimbus Sans"/>
              </a:rPr>
              <a:t>stream</a:t>
            </a:r>
          </a:p>
        </p:txBody>
      </p:sp>
      <p:sp>
        <p:nvSpPr>
          <p:cNvPr id="10" name="">
            <a:extLst xmlns:a="http://schemas.openxmlformats.org/drawingml/2006/main">
              <a:ext uri="{FF2B5EF4-FFF2-40B4-BE49-F238E27FC236}">
                <a16:creationId xmlns:a16="http://schemas.microsoft.com/office/drawing/2014/main" id="{AD40BEFC-65FC-460D-AFDE-DD3E3636478F}"/>
              </a:ext>
            </a:extLst>
          </p:cNvPr>
          <p:cNvSpPr>
            <a:spLocks xmlns:a="http://schemas.openxmlformats.org/drawingml/2006/main" noGrp="1"/>
          </p:cNvSpPr>
          <p:nvPr/>
        </p:nvSpPr>
        <p:spPr>
          <a:xfrm xmlns:a="http://schemas.openxmlformats.org/drawingml/2006/main">
            <a:off x="523875" y="2971800"/>
            <a:ext cx="914400" cy="609600"/>
          </a:xfrm>
          <a:prstGeom xmlns:a="http://schemas.openxmlformats.org/drawingml/2006/main" prst="can">
            <a:avLst/>
          </a:prstGeom>
          <a:solidFill xmlns:a="http://schemas.openxmlformats.org/drawingml/2006/main">
            <a:srgbClr val="FFFFFF"/>
          </a:solidFill>
          <a:ln xmlns:a="http://schemas.openxmlformats.org/drawingml/2006/main" w="17145">
            <a:solidFill>
              <a:srgbClr val="378DB7"/>
            </a:solidFill>
            <a:prstDash val="solid"/>
          </a:ln>
        </p:spPr>
        <p:txBody>
          <a:bodyPr xmlns:a="http://schemas.openxmlformats.org/drawingml/2006/main" wrap="square" lIns="66675" tIns="47625" rIns="66675" bIns="47625" anchor="ctr">
            <a:normAutofit fontScale="78125"/>
          </a:bodyPr>
          <a:lstStyle xmlns:a="http://schemas.openxmlformats.org/drawingml/2006/main"/>
          <a:p xmlns:a="http://schemas.openxmlformats.org/drawingml/2006/main">
            <a:pPr algn="ctr">
              <a:lnSpc>
                <a:spcPct val="100000"/>
              </a:lnSpc>
              <a:buNone/>
              <a:defRPr sz="1200" b="1">
                <a:solidFill>
                  <a:srgbClr val="0B1F33"/>
                </a:solidFill>
                <a:latin typeface="Nimbus Sans"/>
                <a:ea typeface="Nimbus Sans"/>
                <a:cs typeface="Nimbus Sans"/>
              </a:defRPr>
            </a:pPr>
            <a:r>
              <a:rPr sz="1200" b="1">
                <a:solidFill>
                  <a:srgbClr val="0B1F33"/>
                </a:solidFill>
                <a:latin typeface="Nimbus Sans"/>
                <a:ea typeface="Nimbus Sans"/>
                <a:cs typeface="Nimbus Sans"/>
              </a:rPr>
              <a:t>TABLE B</a:t>
            </a:r>
          </a:p>
          <a:p xmlns:a="http://schemas.openxmlformats.org/drawingml/2006/main">
            <a:pPr algn="ctr">
              <a:lnSpc>
                <a:spcPct val="100000"/>
              </a:lnSpc>
              <a:buNone/>
              <a:defRPr sz="1200" b="1">
                <a:solidFill>
                  <a:srgbClr val="0B1F33"/>
                </a:solidFill>
                <a:latin typeface="Nimbus Sans"/>
                <a:ea typeface="Nimbus Sans"/>
                <a:cs typeface="Nimbus Sans"/>
              </a:defRPr>
            </a:pPr>
            <a:r>
              <a:rPr sz="1200" b="1">
                <a:solidFill>
                  <a:srgbClr val="0B1F33"/>
                </a:solidFill>
                <a:latin typeface="Nimbus Sans"/>
                <a:ea typeface="Nimbus Sans"/>
                <a:cs typeface="Nimbus Sans"/>
              </a:rPr>
              <a:t>stream</a:t>
            </a:r>
          </a:p>
        </p:txBody>
      </p:sp>
      <p:sp>
        <p:nvSpPr>
          <p:cNvPr id="11" name="">
            <a:extLst xmlns:a="http://schemas.openxmlformats.org/drawingml/2006/main">
              <a:ext uri="{FF2B5EF4-FFF2-40B4-BE49-F238E27FC236}">
                <a16:creationId xmlns:a16="http://schemas.microsoft.com/office/drawing/2014/main" id="{899282E5-0C79-4184-B96B-C3922C35C8C9}"/>
              </a:ext>
            </a:extLst>
          </p:cNvPr>
          <p:cNvSpPr>
            <a:spLocks xmlns:a="http://schemas.openxmlformats.org/drawingml/2006/main" noGrp="1"/>
          </p:cNvSpPr>
          <p:nvPr/>
        </p:nvSpPr>
        <p:spPr>
          <a:xfrm xmlns:a="http://schemas.openxmlformats.org/drawingml/2006/main">
            <a:off x="1619250" y="17716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377"/>
          </a:bodyPr>
          <a:lstStyle xmlns:a="http://schemas.openxmlformats.org/drawingml/2006/main"/>
          <a:p xmlns:a="http://schemas.openxmlformats.org/drawingml/2006/main">
            <a:pPr algn="ctr">
              <a:lnSpc>
                <a:spcPct val="100000"/>
              </a:lnSpc>
              <a:buNone/>
              <a:defRPr sz="1013" b="0">
                <a:solidFill>
                  <a:srgbClr val="5D7182"/>
                </a:solidFill>
                <a:latin typeface="Nimbus Sans"/>
                <a:ea typeface="Nimbus Sans"/>
                <a:cs typeface="Nimbus Sans"/>
              </a:defRPr>
            </a:pPr>
            <a:r>
              <a:rPr sz="1013" b="0">
                <a:solidFill>
                  <a:srgbClr val="5D7182"/>
                </a:solidFill>
                <a:latin typeface="Nimbus Sans"/>
                <a:ea typeface="Nimbus Sans"/>
                <a:cs typeface="Nimbus Sans"/>
              </a:rPr>
              <a:t>readStream + audit_load_date filter</a:t>
            </a:r>
          </a:p>
        </p:txBody>
      </p:sp>
      <p:sp>
        <p:nvSpPr>
          <p:cNvPr id="12" name="">
            <a:extLst xmlns:a="http://schemas.openxmlformats.org/drawingml/2006/main">
              <a:ext uri="{FF2B5EF4-FFF2-40B4-BE49-F238E27FC236}">
                <a16:creationId xmlns:a16="http://schemas.microsoft.com/office/drawing/2014/main" id="{D7DC7CF9-9F75-41DC-86F7-1FD2CF6E8A8A}"/>
              </a:ext>
            </a:extLst>
          </p:cNvPr>
          <p:cNvSpPr>
            <a:spLocks xmlns:a="http://schemas.openxmlformats.org/drawingml/2006/main" noGrp="1"/>
          </p:cNvSpPr>
          <p:nvPr/>
        </p:nvSpPr>
        <p:spPr>
          <a:xfrm xmlns:a="http://schemas.openxmlformats.org/drawingml/2006/main">
            <a:off x="2133600" y="2333625"/>
            <a:ext cx="1162050" cy="819150"/>
          </a:xfrm>
          <a:prstGeom xmlns:a="http://schemas.openxmlformats.org/drawingml/2006/main" prst="hexagon">
            <a:avLst/>
          </a:prstGeom>
          <a:solidFill xmlns:a="http://schemas.openxmlformats.org/drawingml/2006/main">
            <a:srgbClr val="FFFFFF"/>
          </a:solidFill>
          <a:ln xmlns:a="http://schemas.openxmlformats.org/drawingml/2006/main" w="17145">
            <a:solidFill>
              <a:srgbClr val="1F6D9C"/>
            </a:solidFill>
            <a:prstDash val="solid"/>
          </a:ln>
        </p:spPr>
        <p:txBody>
          <a:bodyPr xmlns:a="http://schemas.openxmlformats.org/drawingml/2006/main" wrap="square" lIns="66675" tIns="47625" rIns="66675" bIns="47625" anchor="ctr">
            <a:normAutofit fontScale="92367"/>
          </a:bodyPr>
          <a:lstStyle xmlns:a="http://schemas.openxmlformats.org/drawingml/2006/main"/>
          <a:p xmlns:a="http://schemas.openxmlformats.org/drawingml/2006/main">
            <a:pPr algn="ctr">
              <a:lnSpc>
                <a:spcPct val="100000"/>
              </a:lnSpc>
              <a:buNone/>
              <a:defRPr sz="1163" b="1">
                <a:solidFill>
                  <a:srgbClr val="0B1F33"/>
                </a:solidFill>
                <a:latin typeface="Nimbus Sans"/>
                <a:ea typeface="Nimbus Sans"/>
                <a:cs typeface="Nimbus Sans"/>
              </a:defRPr>
            </a:pPr>
            <a:r>
              <a:rPr sz="1163" b="1">
                <a:solidFill>
                  <a:srgbClr val="0B1F33"/>
                </a:solidFill>
                <a:latin typeface="Nimbus Sans"/>
                <a:ea typeface="Nimbus Sans"/>
                <a:cs typeface="Nimbus Sans"/>
              </a:rPr>
              <a:t>JOIN</a:t>
            </a:r>
          </a:p>
          <a:p xmlns:a="http://schemas.openxmlformats.org/drawingml/2006/main">
            <a:pPr algn="ctr">
              <a:lnSpc>
                <a:spcPct val="100000"/>
              </a:lnSpc>
              <a:buNone/>
              <a:defRPr sz="1163" b="1">
                <a:solidFill>
                  <a:srgbClr val="0B1F33"/>
                </a:solidFill>
                <a:latin typeface="Nimbus Sans"/>
                <a:ea typeface="Nimbus Sans"/>
                <a:cs typeface="Nimbus Sans"/>
              </a:defRPr>
            </a:pPr>
            <a:r>
              <a:rPr sz="1163" b="1">
                <a:solidFill>
                  <a:srgbClr val="0B1F33"/>
                </a:solidFill>
                <a:latin typeface="Nimbus Sans"/>
                <a:ea typeface="Nimbus Sans"/>
                <a:cs typeface="Nimbus Sans"/>
              </a:rPr>
              <a:t>qualified columns</a:t>
            </a:r>
          </a:p>
        </p:txBody>
      </p:sp>
      <p:sp>
        <p:nvSpPr>
          <p:cNvPr id="13" name="">
            <a:extLst xmlns:a="http://schemas.openxmlformats.org/drawingml/2006/main">
              <a:ext uri="{FF2B5EF4-FFF2-40B4-BE49-F238E27FC236}">
                <a16:creationId xmlns:a16="http://schemas.microsoft.com/office/drawing/2014/main" id="{D04BFAFC-53CE-442B-9654-57F267632DE8}"/>
              </a:ext>
            </a:extLst>
          </p:cNvPr>
          <p:cNvSpPr>
            <a:spLocks xmlns:a="http://schemas.openxmlformats.org/drawingml/2006/main" noGrp="1"/>
          </p:cNvSpPr>
          <p:nvPr/>
        </p:nvSpPr>
        <p:spPr>
          <a:xfrm xmlns:a="http://schemas.openxmlformats.org/drawingml/2006/main">
            <a:off x="3781425" y="2362200"/>
            <a:ext cx="140970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7145">
            <a:solidFill>
              <a:srgbClr val="168B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lnSpc>
                <a:spcPct val="100000"/>
              </a:lnSpc>
              <a:buNone/>
              <a:defRPr sz="1163" b="1">
                <a:solidFill>
                  <a:srgbClr val="0B1F33"/>
                </a:solidFill>
                <a:latin typeface="Nimbus Sans"/>
                <a:ea typeface="Nimbus Sans"/>
                <a:cs typeface="Nimbus Sans"/>
              </a:defRPr>
            </a:pPr>
            <a:r>
              <a:rPr sz="1163" b="1">
                <a:solidFill>
                  <a:srgbClr val="0B1F33"/>
                </a:solidFill>
                <a:latin typeface="Nimbus Sans"/>
                <a:ea typeface="Nimbus Sans"/>
                <a:cs typeface="Nimbus Sans"/>
              </a:rPr>
              <a:t>TRANSFORM</a:t>
            </a:r>
          </a:p>
          <a:p xmlns:a="http://schemas.openxmlformats.org/drawingml/2006/main">
            <a:pPr algn="ctr">
              <a:lnSpc>
                <a:spcPct val="100000"/>
              </a:lnSpc>
              <a:buNone/>
              <a:defRPr sz="1163" b="1">
                <a:solidFill>
                  <a:srgbClr val="0B1F33"/>
                </a:solidFill>
                <a:latin typeface="Nimbus Sans"/>
                <a:ea typeface="Nimbus Sans"/>
                <a:cs typeface="Nimbus Sans"/>
              </a:defRPr>
            </a:pPr>
            <a:r>
              <a:rPr sz="1163" b="1">
                <a:solidFill>
                  <a:srgbClr val="0B1F33"/>
                </a:solidFill>
                <a:latin typeface="Nimbus Sans"/>
                <a:ea typeface="Nimbus Sans"/>
                <a:cs typeface="Nimbus Sans"/>
              </a:rPr>
              <a:t>DQ + business rules</a:t>
            </a:r>
          </a:p>
        </p:txBody>
      </p:sp>
      <p:sp>
        <p:nvSpPr>
          <p:cNvPr id="14" name="">
            <a:extLst xmlns:a="http://schemas.openxmlformats.org/drawingml/2006/main">
              <a:ext uri="{FF2B5EF4-FFF2-40B4-BE49-F238E27FC236}">
                <a16:creationId xmlns:a16="http://schemas.microsoft.com/office/drawing/2014/main" id="{B2E61715-8B36-40A9-A2BA-DC43EA8263A8}"/>
              </a:ext>
            </a:extLst>
          </p:cNvPr>
          <p:cNvSpPr>
            <a:spLocks xmlns:a="http://schemas.openxmlformats.org/drawingml/2006/main" noGrp="1"/>
          </p:cNvSpPr>
          <p:nvPr/>
        </p:nvSpPr>
        <p:spPr>
          <a:xfrm xmlns:a="http://schemas.openxmlformats.org/drawingml/2006/main">
            <a:off x="5676900" y="2200275"/>
            <a:ext cx="1200150" cy="1085850"/>
          </a:xfrm>
          <a:prstGeom xmlns:a="http://schemas.openxmlformats.org/drawingml/2006/main" prst="diamond">
            <a:avLst/>
          </a:prstGeom>
          <a:solidFill xmlns:a="http://schemas.openxmlformats.org/drawingml/2006/main">
            <a:srgbClr val="FFF9ED"/>
          </a:solidFill>
          <a:ln xmlns:a="http://schemas.openxmlformats.org/drawingml/2006/main" w="19050">
            <a:solidFill>
              <a:srgbClr val="D98022"/>
            </a:solidFill>
            <a:prstDash val="solid"/>
          </a:ln>
        </p:spPr>
      </p:sp>
      <p:sp>
        <p:nvSpPr>
          <p:cNvPr id="15" name="">
            <a:extLst xmlns:a="http://schemas.openxmlformats.org/drawingml/2006/main">
              <a:ext uri="{FF2B5EF4-FFF2-40B4-BE49-F238E27FC236}">
                <a16:creationId xmlns:a16="http://schemas.microsoft.com/office/drawing/2014/main" id="{3FE0CB70-B7F0-4854-81B0-B637490C8D0E}"/>
              </a:ext>
            </a:extLst>
          </p:cNvPr>
          <p:cNvSpPr>
            <a:spLocks xmlns:a="http://schemas.openxmlformats.org/drawingml/2006/main" noGrp="1"/>
          </p:cNvSpPr>
          <p:nvPr/>
        </p:nvSpPr>
        <p:spPr>
          <a:xfrm xmlns:a="http://schemas.openxmlformats.org/drawingml/2006/main">
            <a:off x="5876925" y="2476500"/>
            <a:ext cx="80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F33"/>
                </a:solidFill>
                <a:latin typeface="Nimbus Sans"/>
                <a:ea typeface="Nimbus Sans"/>
                <a:cs typeface="Nimbus Sans"/>
              </a:defRPr>
            </a:pPr>
            <a:r>
              <a:rPr sz="1125" b="1">
                <a:solidFill>
                  <a:srgbClr val="0B1F33"/>
                </a:solidFill>
                <a:latin typeface="Nimbus Sans"/>
                <a:ea typeface="Nimbus Sans"/>
                <a:cs typeface="Nimbus Sans"/>
              </a:rPr>
              <a:t>TARGET</a:t>
            </a:r>
          </a:p>
          <a:p xmlns:a="http://schemas.openxmlformats.org/drawingml/2006/main">
            <a:pPr algn="ctr">
              <a:lnSpc>
                <a:spcPct val="100000"/>
              </a:lnSpc>
              <a:buNone/>
              <a:defRPr sz="1125" b="1">
                <a:solidFill>
                  <a:srgbClr val="0B1F33"/>
                </a:solidFill>
                <a:latin typeface="Nimbus Sans"/>
                <a:ea typeface="Nimbus Sans"/>
                <a:cs typeface="Nimbus Sans"/>
              </a:defRPr>
            </a:pPr>
            <a:r>
              <a:rPr sz="1125" b="1">
                <a:solidFill>
                  <a:srgbClr val="0B1F33"/>
                </a:solidFill>
                <a:latin typeface="Nimbus Sans"/>
                <a:ea typeface="Nimbus Sans"/>
                <a:cs typeface="Nimbus Sans"/>
              </a:rPr>
              <a:t>OWNER?</a:t>
            </a:r>
          </a:p>
        </p:txBody>
      </p:sp>
      <p:cxnSp>
        <p:nvCxnSpPr>
          <p:cNvPr id="83" name=""/>
          <p:cNvCxnSpPr>
            <a:stCxn xmlns:a="http://schemas.openxmlformats.org/drawingml/2006/main" id="9" idx="4"/>
            <a:endCxn xmlns:a="http://schemas.openxmlformats.org/drawingml/2006/main" id="12" idx="3"/>
          </p:cNvCxnSpPr>
          <p:nvPr/>
        </p:nvCxnSpPr>
        <p:spPr>
          <a:xfrm xmlns:a="http://schemas.openxmlformats.org/drawingml/2006/main">
            <a:off x="1438275" y="2276475"/>
            <a:ext cx="695325" cy="466725"/>
          </a:xfrm>
          <a:prstGeom xmlns:a="http://schemas.openxmlformats.org/drawingml/2006/main" prst="bentConnector3">
            <a:avLst>
              <a:gd name="adj1" fmla="val 50000"/>
            </a:avLst>
          </a:prstGeom>
          <a:ln xmlns:a="http://schemas.openxmlformats.org/drawingml/2006/main" w="20955">
            <a:solidFill>
              <a:srgbClr val="1F6D9C"/>
            </a:solidFill>
            <a:prstDash val="solid"/>
            <a:headEnd type="none" w="med" len="med"/>
            <a:tailEnd type="triangle" w="sm" len="sm"/>
          </a:ln>
        </p:spPr>
      </p:cxnSp>
      <p:cxnSp>
        <p:nvCxnSpPr>
          <p:cNvPr id="84" name=""/>
          <p:cNvCxnSpPr>
            <a:stCxn xmlns:a="http://schemas.openxmlformats.org/drawingml/2006/main" id="10" idx="4"/>
            <a:endCxn xmlns:a="http://schemas.openxmlformats.org/drawingml/2006/main" id="12" idx="3"/>
          </p:cNvCxnSpPr>
          <p:nvPr/>
        </p:nvCxnSpPr>
        <p:spPr>
          <a:xfrm xmlns:a="http://schemas.openxmlformats.org/drawingml/2006/main" flipV="1">
            <a:off x="1438275" y="2743200"/>
            <a:ext cx="695325" cy="533400"/>
          </a:xfrm>
          <a:prstGeom xmlns:a="http://schemas.openxmlformats.org/drawingml/2006/main" prst="bentConnector3">
            <a:avLst>
              <a:gd name="adj1" fmla="val 50000"/>
            </a:avLst>
          </a:prstGeom>
          <a:ln xmlns:a="http://schemas.openxmlformats.org/drawingml/2006/main" w="20955">
            <a:solidFill>
              <a:srgbClr val="1F6D9C"/>
            </a:solidFill>
            <a:prstDash val="solid"/>
            <a:headEnd type="none" w="med" len="med"/>
            <a:tailEnd type="triangle" w="sm" len="sm"/>
          </a:ln>
        </p:spPr>
      </p:cxnSp>
      <p:cxnSp>
        <p:nvCxnSpPr>
          <p:cNvPr id="85" name=""/>
          <p:cNvCxnSpPr>
            <a:stCxn xmlns:a="http://schemas.openxmlformats.org/drawingml/2006/main" id="12" idx="0"/>
            <a:endCxn xmlns:a="http://schemas.openxmlformats.org/drawingml/2006/main" id="13" idx="1"/>
          </p:cNvCxnSpPr>
          <p:nvPr/>
        </p:nvCxnSpPr>
        <p:spPr>
          <a:xfrm xmlns:a="http://schemas.openxmlformats.org/drawingml/2006/main">
            <a:off x="3295650" y="2743200"/>
            <a:ext cx="485775" cy="0"/>
          </a:xfrm>
          <a:prstGeom xmlns:a="http://schemas.openxmlformats.org/drawingml/2006/main" prst="straightConnector1">
            <a:avLst/>
          </a:prstGeom>
          <a:ln xmlns:a="http://schemas.openxmlformats.org/drawingml/2006/main" w="20955">
            <a:solidFill>
              <a:srgbClr val="1F6D9C"/>
            </a:solidFill>
            <a:prstDash val="solid"/>
            <a:headEnd type="none" w="med" len="med"/>
            <a:tailEnd type="triangle" w="sm" len="sm"/>
          </a:ln>
        </p:spPr>
      </p:cxnSp>
      <p:cxnSp>
        <p:nvCxnSpPr>
          <p:cNvPr id="86" name=""/>
          <p:cNvCxnSpPr>
            <a:stCxn xmlns:a="http://schemas.openxmlformats.org/drawingml/2006/main" id="13" idx="3"/>
            <a:endCxn xmlns:a="http://schemas.openxmlformats.org/drawingml/2006/main" id="14" idx="1"/>
          </p:cNvCxnSpPr>
          <p:nvPr/>
        </p:nvCxnSpPr>
        <p:spPr>
          <a:xfrm xmlns:a="http://schemas.openxmlformats.org/drawingml/2006/main">
            <a:off x="5191125" y="2743200"/>
            <a:ext cx="485775" cy="0"/>
          </a:xfrm>
          <a:prstGeom xmlns:a="http://schemas.openxmlformats.org/drawingml/2006/main" prst="straightConnector1">
            <a:avLst/>
          </a:prstGeom>
          <a:ln xmlns:a="http://schemas.openxmlformats.org/drawingml/2006/main" w="20955">
            <a:solidFill>
              <a:srgbClr val="1F6D9C"/>
            </a:solidFill>
            <a:prstDash val="solid"/>
            <a:headEnd type="none" w="med" len="med"/>
            <a:tailEnd type="triangle" w="sm" len="sm"/>
          </a:ln>
        </p:spPr>
      </p:cxnSp>
      <p:sp>
        <p:nvSpPr>
          <p:cNvPr id="20" name="">
            <a:extLst xmlns:a="http://schemas.openxmlformats.org/drawingml/2006/main">
              <a:ext uri="{FF2B5EF4-FFF2-40B4-BE49-F238E27FC236}">
                <a16:creationId xmlns:a16="http://schemas.microsoft.com/office/drawing/2014/main" id="{E25706E3-02D3-4AB1-B1F0-B44CA72CCB9D}"/>
              </a:ext>
            </a:extLst>
          </p:cNvPr>
          <p:cNvSpPr>
            <a:spLocks xmlns:a="http://schemas.openxmlformats.org/drawingml/2006/main" noGrp="1"/>
          </p:cNvSpPr>
          <p:nvPr/>
        </p:nvSpPr>
        <p:spPr>
          <a:xfrm xmlns:a="http://schemas.openxmlformats.org/drawingml/2006/main">
            <a:off x="3686175" y="3467100"/>
            <a:ext cx="1600200" cy="571500"/>
          </a:xfrm>
          <a:prstGeom xmlns:a="http://schemas.openxmlformats.org/drawingml/2006/main" prst="roundRect">
            <a:avLst>
              <a:gd name="adj" fmla="val 13333"/>
            </a:avLst>
          </a:prstGeom>
          <a:solidFill xmlns:a="http://schemas.openxmlformats.org/drawingml/2006/main">
            <a:srgbClr val="F4FBFA"/>
          </a:solidFill>
          <a:ln xmlns:a="http://schemas.openxmlformats.org/drawingml/2006/main" w="12383">
            <a:solidFill>
              <a:srgbClr val="168B82"/>
            </a:solidFill>
            <a:prstDash val="dash"/>
          </a:ln>
        </p:spPr>
        <p:txBody>
          <a:bodyPr xmlns:a="http://schemas.openxmlformats.org/drawingml/2006/main" wrap="square" lIns="66675" tIns="47625" rIns="66675" bIns="47625" anchor="ctr">
            <a:normAutofit fontScale="93192"/>
          </a:bodyPr>
          <a:lstStyle xmlns:a="http://schemas.openxmlformats.org/drawingml/2006/main"/>
          <a:p xmlns:a="http://schemas.openxmlformats.org/drawingml/2006/main">
            <a:pPr algn="ctr">
              <a:lnSpc>
                <a:spcPct val="100000"/>
              </a:lnSpc>
              <a:buNone/>
              <a:defRPr sz="1013" b="0">
                <a:solidFill>
                  <a:srgbClr val="168B82"/>
                </a:solidFill>
                <a:latin typeface="Nimbus Sans"/>
                <a:ea typeface="Nimbus Sans"/>
                <a:cs typeface="Nimbus Sans"/>
              </a:defRPr>
            </a:pPr>
            <a:r>
              <a:rPr sz="1013" b="0">
                <a:solidFill>
                  <a:srgbClr val="168B82"/>
                </a:solidFill>
                <a:latin typeface="Nimbus Sans"/>
                <a:ea typeface="Nimbus Sans"/>
                <a:cs typeface="Nimbus Sans"/>
              </a:rPr>
              <a:t>Optional temporary view</a:t>
            </a:r>
          </a:p>
          <a:p xmlns:a="http://schemas.openxmlformats.org/drawingml/2006/main">
            <a:pPr algn="ctr">
              <a:lnSpc>
                <a:spcPct val="100000"/>
              </a:lnSpc>
              <a:buNone/>
              <a:defRPr sz="1013" b="0">
                <a:solidFill>
                  <a:srgbClr val="168B82"/>
                </a:solidFill>
                <a:latin typeface="Nimbus Sans"/>
                <a:ea typeface="Nimbus Sans"/>
                <a:cs typeface="Nimbus Sans"/>
              </a:defRPr>
            </a:pPr>
            <a:r>
              <a:rPr sz="1013" b="0">
                <a:solidFill>
                  <a:srgbClr val="168B82"/>
                </a:solidFill>
                <a:latin typeface="Nimbus Sans"/>
                <a:ea typeface="Nimbus Sans"/>
                <a:cs typeface="Nimbus Sans"/>
              </a:rPr>
              <a:t>pipeline scoped, not persisted</a:t>
            </a:r>
          </a:p>
        </p:txBody>
      </p:sp>
      <p:cxnSp>
        <p:nvCxnSpPr>
          <p:cNvPr id="88" name=""/>
          <p:cNvCxnSpPr>
            <a:stCxn xmlns:a="http://schemas.openxmlformats.org/drawingml/2006/main" id="13" idx="2"/>
            <a:endCxn xmlns:a="http://schemas.openxmlformats.org/drawingml/2006/main" id="20" idx="0"/>
          </p:cNvCxnSpPr>
          <p:nvPr/>
        </p:nvCxnSpPr>
        <p:spPr>
          <a:xfrm xmlns:a="http://schemas.openxmlformats.org/drawingml/2006/main">
            <a:off x="4486275" y="3124200"/>
            <a:ext cx="0" cy="342900"/>
          </a:xfrm>
          <a:prstGeom xmlns:a="http://schemas.openxmlformats.org/drawingml/2006/main" prst="straightConnector1">
            <a:avLst/>
          </a:prstGeom>
          <a:ln xmlns:a="http://schemas.openxmlformats.org/drawingml/2006/main" w="13335">
            <a:solidFill>
              <a:srgbClr val="168B82"/>
            </a:solidFill>
            <a:prstDash val="dash"/>
            <a:headEnd type="none" w="med" len="med"/>
            <a:tailEnd type="none" w="med" len="med"/>
          </a:ln>
        </p:spPr>
      </p:cxnSp>
      <p:sp>
        <p:nvSpPr>
          <p:cNvPr id="22" name="">
            <a:extLst xmlns:a="http://schemas.openxmlformats.org/drawingml/2006/main">
              <a:ext uri="{FF2B5EF4-FFF2-40B4-BE49-F238E27FC236}">
                <a16:creationId xmlns:a16="http://schemas.microsoft.com/office/drawing/2014/main" id="{65036AA7-364A-449C-B9C0-512ADBC7A0E0}"/>
              </a:ext>
            </a:extLst>
          </p:cNvPr>
          <p:cNvSpPr>
            <a:spLocks xmlns:a="http://schemas.openxmlformats.org/drawingml/2006/main" noGrp="1"/>
          </p:cNvSpPr>
          <p:nvPr/>
        </p:nvSpPr>
        <p:spPr>
          <a:xfrm xmlns:a="http://schemas.openxmlformats.org/drawingml/2006/main">
            <a:off x="2028825" y="3448050"/>
            <a:ext cx="1504950" cy="590550"/>
          </a:xfrm>
          <a:prstGeom xmlns:a="http://schemas.openxmlformats.org/drawingml/2006/main" prst="roundRect">
            <a:avLst>
              <a:gd name="adj" fmla="val 12903"/>
            </a:avLst>
          </a:prstGeom>
          <a:solidFill xmlns:a="http://schemas.openxmlformats.org/drawingml/2006/main">
            <a:srgbClr val="F4FBFA"/>
          </a:solidFill>
          <a:ln xmlns:a="http://schemas.openxmlformats.org/drawingml/2006/main" w="12383">
            <a:solidFill>
              <a:srgbClr val="168B82"/>
            </a:solidFill>
            <a:prstDash val="dash"/>
          </a:ln>
        </p:spPr>
        <p:txBody>
          <a:bodyPr xmlns:a="http://schemas.openxmlformats.org/drawingml/2006/main" wrap="square" lIns="66675" tIns="47625" rIns="66675" bIns="47625" anchor="ctr">
            <a:normAutofit fontScale="91159"/>
          </a:bodyPr>
          <a:lstStyle xmlns:a="http://schemas.openxmlformats.org/drawingml/2006/main"/>
          <a:p xmlns:a="http://schemas.openxmlformats.org/drawingml/2006/main">
            <a:pPr algn="ctr">
              <a:lnSpc>
                <a:spcPct val="100000"/>
              </a:lnSpc>
              <a:buNone/>
              <a:defRPr sz="1013" b="0">
                <a:solidFill>
                  <a:srgbClr val="168B82"/>
                </a:solidFill>
                <a:latin typeface="Nimbus Sans"/>
                <a:ea typeface="Nimbus Sans"/>
                <a:cs typeface="Nimbus Sans"/>
              </a:defRPr>
            </a:pPr>
            <a:r>
              <a:rPr sz="1013" b="0">
                <a:solidFill>
                  <a:srgbClr val="168B82"/>
                </a:solidFill>
                <a:latin typeface="Nimbus Sans"/>
                <a:ea typeface="Nimbus Sans"/>
                <a:cs typeface="Nimbus Sans"/>
              </a:rPr>
              <a:t>Reference / dimension side</a:t>
            </a:r>
          </a:p>
          <a:p xmlns:a="http://schemas.openxmlformats.org/drawingml/2006/main">
            <a:pPr algn="ctr">
              <a:lnSpc>
                <a:spcPct val="100000"/>
              </a:lnSpc>
              <a:buNone/>
              <a:defRPr sz="1013" b="0">
                <a:solidFill>
                  <a:srgbClr val="168B82"/>
                </a:solidFill>
                <a:latin typeface="Nimbus Sans"/>
                <a:ea typeface="Nimbus Sans"/>
                <a:cs typeface="Nimbus Sans"/>
              </a:defRPr>
            </a:pPr>
            <a:r>
              <a:rPr sz="1013" b="0">
                <a:solidFill>
                  <a:srgbClr val="168B82"/>
                </a:solidFill>
                <a:latin typeface="Nimbus Sans"/>
                <a:ea typeface="Nimbus Sans"/>
                <a:cs typeface="Nimbus Sans"/>
              </a:rPr>
              <a:t>Prefer a stream-static join</a:t>
            </a:r>
          </a:p>
        </p:txBody>
      </p:sp>
      <p:cxnSp>
        <p:nvCxnSpPr>
          <p:cNvPr id="90" name=""/>
          <p:cNvCxnSpPr>
            <a:stCxn xmlns:a="http://schemas.openxmlformats.org/drawingml/2006/main" id="12" idx="1"/>
            <a:endCxn xmlns:a="http://schemas.openxmlformats.org/drawingml/2006/main" id="22" idx="0"/>
          </p:cNvCxnSpPr>
          <p:nvPr/>
        </p:nvCxnSpPr>
        <p:spPr>
          <a:xfrm xmlns:a="http://schemas.openxmlformats.org/drawingml/2006/main" flipH="1">
            <a:off x="2781300" y="3152775"/>
            <a:ext cx="309563" cy="295275"/>
          </a:xfrm>
          <a:prstGeom xmlns:a="http://schemas.openxmlformats.org/drawingml/2006/main" prst="bentConnector4">
            <a:avLst>
              <a:gd name="adj1" fmla="val 0"/>
              <a:gd name="adj2" fmla="val 50000"/>
            </a:avLst>
          </a:prstGeom>
          <a:ln xmlns:a="http://schemas.openxmlformats.org/drawingml/2006/main" w="13335">
            <a:solidFill>
              <a:srgbClr val="168B82"/>
            </a:solidFill>
            <a:prstDash val="dash"/>
            <a:headEnd type="none" w="med" len="med"/>
            <a:tailEnd type="none" w="med" len="med"/>
          </a:ln>
        </p:spPr>
      </p:cxnSp>
      <p:sp>
        <p:nvSpPr>
          <p:cNvPr id="24" name="">
            <a:extLst xmlns:a="http://schemas.openxmlformats.org/drawingml/2006/main">
              <a:ext uri="{FF2B5EF4-FFF2-40B4-BE49-F238E27FC236}">
                <a16:creationId xmlns:a16="http://schemas.microsoft.com/office/drawing/2014/main" id="{7F0A0E02-ED8A-4BB8-93FD-4D9DCAE18B57}"/>
              </a:ext>
            </a:extLst>
          </p:cNvPr>
          <p:cNvSpPr>
            <a:spLocks xmlns:a="http://schemas.openxmlformats.org/drawingml/2006/main" noGrp="1"/>
          </p:cNvSpPr>
          <p:nvPr/>
        </p:nvSpPr>
        <p:spPr>
          <a:xfrm xmlns:a="http://schemas.openxmlformats.org/drawingml/2006/main">
            <a:off x="6972300" y="16383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13" b="1">
                <a:solidFill>
                  <a:srgbClr val="1F6D9C"/>
                </a:solidFill>
                <a:latin typeface="Nimbus Sans"/>
                <a:ea typeface="Nimbus Sans"/>
                <a:cs typeface="Nimbus Sans"/>
              </a:defRPr>
            </a:pPr>
            <a:r>
              <a:rPr sz="1013" b="1">
                <a:solidFill>
                  <a:srgbClr val="1F6D9C"/>
                </a:solidFill>
                <a:latin typeface="Nimbus Sans"/>
                <a:ea typeface="Nimbus Sans"/>
                <a:cs typeface="Nimbus Sans"/>
              </a:rPr>
              <a:t>SDP owns</a:t>
            </a:r>
          </a:p>
        </p:txBody>
      </p:sp>
      <p:sp>
        <p:nvSpPr>
          <p:cNvPr id="25" name="">
            <a:extLst xmlns:a="http://schemas.openxmlformats.org/drawingml/2006/main">
              <a:ext uri="{FF2B5EF4-FFF2-40B4-BE49-F238E27FC236}">
                <a16:creationId xmlns:a16="http://schemas.microsoft.com/office/drawing/2014/main" id="{E8F48670-3902-4C7F-89B5-48649675679E}"/>
              </a:ext>
            </a:extLst>
          </p:cNvPr>
          <p:cNvSpPr>
            <a:spLocks xmlns:a="http://schemas.openxmlformats.org/drawingml/2006/main" noGrp="1"/>
          </p:cNvSpPr>
          <p:nvPr/>
        </p:nvSpPr>
        <p:spPr>
          <a:xfrm xmlns:a="http://schemas.openxmlformats.org/drawingml/2006/main">
            <a:off x="7124700" y="1876425"/>
            <a:ext cx="1733550" cy="990600"/>
          </a:xfrm>
          <a:prstGeom xmlns:a="http://schemas.openxmlformats.org/drawingml/2006/main" prst="roundRect">
            <a:avLst>
              <a:gd name="adj" fmla="val 7692"/>
            </a:avLst>
          </a:prstGeom>
          <a:solidFill xmlns:a="http://schemas.openxmlformats.org/drawingml/2006/main">
            <a:srgbClr val="1F6D9C"/>
          </a:solidFill>
          <a:ln xmlns:a="http://schemas.openxmlformats.org/drawingml/2006/main" w="14288">
            <a:solidFill>
              <a:srgbClr val="1F6D9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lnSpc>
                <a:spcPct val="100000"/>
              </a:lnSpc>
              <a:buNone/>
              <a:defRPr sz="1088" b="1">
                <a:solidFill>
                  <a:srgbClr val="FFFFFF"/>
                </a:solidFill>
                <a:latin typeface="Nimbus Sans"/>
                <a:ea typeface="Nimbus Sans"/>
                <a:cs typeface="Nimbus Sans"/>
              </a:defRPr>
            </a:pPr>
            <a:r>
              <a:rPr sz="1088" b="1">
                <a:solidFill>
                  <a:srgbClr val="FFFFFF"/>
                </a:solidFill>
                <a:latin typeface="Nimbus Sans"/>
                <a:ea typeface="Nimbus Sans"/>
                <a:cs typeface="Nimbus Sans"/>
              </a:rPr>
              <a:t>RETURN DATAFRAME</a:t>
            </a:r>
          </a:p>
          <a:p xmlns:a="http://schemas.openxmlformats.org/drawingml/2006/main">
            <a:pPr algn="ctr">
              <a:lnSpc>
                <a:spcPct val="100000"/>
              </a:lnSpc>
              <a:buNone/>
              <a:defRPr sz="1088" b="1">
                <a:solidFill>
                  <a:srgbClr val="FFFFFF"/>
                </a:solidFill>
                <a:latin typeface="Nimbus Sans"/>
                <a:ea typeface="Nimbus Sans"/>
                <a:cs typeface="Nimbus Sans"/>
              </a:defRPr>
            </a:pPr>
            <a:r>
              <a:rPr sz="1088" b="1">
                <a:solidFill>
                  <a:srgbClr val="FFFFFF"/>
                </a:solidFill>
                <a:latin typeface="Nimbus Sans"/>
                <a:ea typeface="Nimbus Sans"/>
                <a:cs typeface="Nimbus Sans"/>
              </a:rPr>
              <a:t>SDP manages the write</a:t>
            </a:r>
          </a:p>
          <a:p xmlns:a="http://schemas.openxmlformats.org/drawingml/2006/main">
            <a:r>
              <a:t/>
            </a:r>
          </a:p>
          <a:p xmlns:a="http://schemas.openxmlformats.org/drawingml/2006/main">
            <a:pPr algn="ctr">
              <a:lnSpc>
                <a:spcPct val="100000"/>
              </a:lnSpc>
              <a:buNone/>
              <a:defRPr sz="1088" b="1">
                <a:solidFill>
                  <a:srgbClr val="FFFFFF"/>
                </a:solidFill>
                <a:latin typeface="Nimbus Sans"/>
                <a:ea typeface="Nimbus Sans"/>
                <a:cs typeface="Nimbus Sans"/>
              </a:defRPr>
            </a:pPr>
            <a:r>
              <a:rPr sz="1088" b="1">
                <a:solidFill>
                  <a:srgbClr val="FFFFFF"/>
                </a:solidFill>
                <a:latin typeface="Nimbus Sans"/>
                <a:ea typeface="Nimbus Sans"/>
                <a:cs typeface="Nimbus Sans"/>
              </a:rPr>
              <a:t>Streaming table  /  Materialized view</a:t>
            </a:r>
          </a:p>
        </p:txBody>
      </p:sp>
      <p:cxnSp>
        <p:nvCxnSpPr>
          <p:cNvPr id="93" name=""/>
          <p:cNvCxnSpPr>
            <a:stCxn xmlns:a="http://schemas.openxmlformats.org/drawingml/2006/main" id="14" idx="0"/>
            <a:endCxn xmlns:a="http://schemas.openxmlformats.org/drawingml/2006/main" id="25" idx="1"/>
          </p:cNvCxnSpPr>
          <p:nvPr/>
        </p:nvCxnSpPr>
        <p:spPr>
          <a:xfrm xmlns:a="http://schemas.openxmlformats.org/drawingml/2006/main">
            <a:off x="6276975" y="2200275"/>
            <a:ext cx="847725" cy="171450"/>
          </a:xfrm>
          <a:prstGeom xmlns:a="http://schemas.openxmlformats.org/drawingml/2006/main" prst="bentConnector3">
            <a:avLst>
              <a:gd name="adj1" fmla="val 0"/>
            </a:avLst>
          </a:prstGeom>
          <a:ln xmlns:a="http://schemas.openxmlformats.org/drawingml/2006/main" w="20955">
            <a:solidFill>
              <a:srgbClr val="1F6D9C"/>
            </a:solidFill>
            <a:prstDash val="solid"/>
            <a:headEnd type="none" w="med" len="med"/>
            <a:tailEnd type="triangle" w="sm" len="sm"/>
          </a:ln>
        </p:spPr>
      </p:cxnSp>
      <p:sp>
        <p:nvSpPr>
          <p:cNvPr id="27" name="">
            <a:extLst xmlns:a="http://schemas.openxmlformats.org/drawingml/2006/main">
              <a:ext uri="{FF2B5EF4-FFF2-40B4-BE49-F238E27FC236}">
                <a16:creationId xmlns:a16="http://schemas.microsoft.com/office/drawing/2014/main" id="{9CCF97FA-9B66-4AE6-A57F-8C105D81FB92}"/>
              </a:ext>
            </a:extLst>
          </p:cNvPr>
          <p:cNvSpPr>
            <a:spLocks xmlns:a="http://schemas.openxmlformats.org/drawingml/2006/main" noGrp="1"/>
          </p:cNvSpPr>
          <p:nvPr/>
        </p:nvSpPr>
        <p:spPr>
          <a:xfrm xmlns:a="http://schemas.openxmlformats.org/drawingml/2006/main">
            <a:off x="5581650" y="332422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481"/>
          </a:bodyPr>
          <a:lstStyle xmlns:a="http://schemas.openxmlformats.org/drawingml/2006/main"/>
          <a:p xmlns:a="http://schemas.openxmlformats.org/drawingml/2006/main">
            <a:pPr algn="ctr">
              <a:lnSpc>
                <a:spcPct val="100000"/>
              </a:lnSpc>
              <a:buNone/>
              <a:defRPr sz="975" b="1">
                <a:solidFill>
                  <a:srgbClr val="D98022"/>
                </a:solidFill>
                <a:latin typeface="Nimbus Sans"/>
                <a:ea typeface="Nimbus Sans"/>
                <a:cs typeface="Nimbus Sans"/>
              </a:defRPr>
            </a:pPr>
            <a:r>
              <a:rPr sz="975" b="1">
                <a:solidFill>
                  <a:srgbClr val="D98022"/>
                </a:solidFill>
                <a:latin typeface="Nimbus Sans"/>
                <a:ea typeface="Nimbus Sans"/>
                <a:cs typeface="Nimbus Sans"/>
              </a:rPr>
              <a:t>External ownership</a:t>
            </a:r>
          </a:p>
        </p:txBody>
      </p:sp>
      <p:sp>
        <p:nvSpPr>
          <p:cNvPr id="28" name="">
            <a:extLst xmlns:a="http://schemas.openxmlformats.org/drawingml/2006/main">
              <a:ext uri="{FF2B5EF4-FFF2-40B4-BE49-F238E27FC236}">
                <a16:creationId xmlns:a16="http://schemas.microsoft.com/office/drawing/2014/main" id="{324D6ACA-3847-4272-A883-9DEF237FED0C}"/>
              </a:ext>
            </a:extLst>
          </p:cNvPr>
          <p:cNvSpPr>
            <a:spLocks xmlns:a="http://schemas.openxmlformats.org/drawingml/2006/main" noGrp="1"/>
          </p:cNvSpPr>
          <p:nvPr/>
        </p:nvSpPr>
        <p:spPr>
          <a:xfrm xmlns:a="http://schemas.openxmlformats.org/drawingml/2006/main">
            <a:off x="6667500" y="3581400"/>
            <a:ext cx="1038225" cy="590550"/>
          </a:xfrm>
          <a:prstGeom xmlns:a="http://schemas.openxmlformats.org/drawingml/2006/main" prst="roundRect">
            <a:avLst>
              <a:gd name="adj" fmla="val 12903"/>
            </a:avLst>
          </a:prstGeom>
          <a:solidFill xmlns:a="http://schemas.openxmlformats.org/drawingml/2006/main">
            <a:srgbClr val="FFF1DF"/>
          </a:solidFill>
          <a:ln xmlns:a="http://schemas.openxmlformats.org/drawingml/2006/main" w="14288">
            <a:solidFill>
              <a:srgbClr val="D98022"/>
            </a:solidFill>
            <a:prstDash val="solid"/>
          </a:ln>
        </p:spPr>
        <p:txBody>
          <a:bodyPr xmlns:a="http://schemas.openxmlformats.org/drawingml/2006/main" wrap="square" lIns="66675" tIns="47625" rIns="66675" bIns="47625" anchor="ctr">
            <a:normAutofit fontScale="97306"/>
          </a:bodyPr>
          <a:lstStyle xmlns:a="http://schemas.openxmlformats.org/drawingml/2006/main"/>
          <a:p xmlns:a="http://schemas.openxmlformats.org/drawingml/2006/main">
            <a:pPr algn="ctr">
              <a:lnSpc>
                <a:spcPct val="100000"/>
              </a:lnSpc>
              <a:buNone/>
              <a:defRPr sz="1013" b="1">
                <a:solidFill>
                  <a:srgbClr val="0B1F33"/>
                </a:solidFill>
                <a:latin typeface="Nimbus Sans"/>
                <a:ea typeface="Nimbus Sans"/>
                <a:cs typeface="Nimbus Sans"/>
              </a:defRPr>
            </a:pPr>
            <a:r>
              <a:rPr sz="1013" b="1">
                <a:solidFill>
                  <a:srgbClr val="0B1F33"/>
                </a:solidFill>
                <a:latin typeface="Nimbus Sans"/>
                <a:ea typeface="Nimbus Sans"/>
                <a:cs typeface="Nimbus Sans"/>
              </a:rPr>
              <a:t>append_flow</a:t>
            </a:r>
          </a:p>
          <a:p xmlns:a="http://schemas.openxmlformats.org/drawingml/2006/main">
            <a:pPr algn="ctr">
              <a:lnSpc>
                <a:spcPct val="100000"/>
              </a:lnSpc>
              <a:buNone/>
              <a:defRPr sz="1013" b="1">
                <a:solidFill>
                  <a:srgbClr val="0B1F33"/>
                </a:solidFill>
                <a:latin typeface="Nimbus Sans"/>
                <a:ea typeface="Nimbus Sans"/>
                <a:cs typeface="Nimbus Sans"/>
              </a:defRPr>
            </a:pPr>
            <a:r>
              <a:rPr sz="1013" b="1">
                <a:solidFill>
                  <a:srgbClr val="0B1F33"/>
                </a:solidFill>
                <a:latin typeface="Nimbus Sans"/>
                <a:ea typeface="Nimbus Sans"/>
                <a:cs typeface="Nimbus Sans"/>
              </a:rPr>
              <a:t>returns stream</a:t>
            </a:r>
          </a:p>
        </p:txBody>
      </p:sp>
      <p:sp>
        <p:nvSpPr>
          <p:cNvPr id="29" name="">
            <a:extLst xmlns:a="http://schemas.openxmlformats.org/drawingml/2006/main">
              <a:ext uri="{FF2B5EF4-FFF2-40B4-BE49-F238E27FC236}">
                <a16:creationId xmlns:a16="http://schemas.microsoft.com/office/drawing/2014/main" id="{B195391C-875D-4AA2-8224-A9EE8E3BE19A}"/>
              </a:ext>
            </a:extLst>
          </p:cNvPr>
          <p:cNvSpPr>
            <a:spLocks xmlns:a="http://schemas.openxmlformats.org/drawingml/2006/main" noGrp="1"/>
          </p:cNvSpPr>
          <p:nvPr/>
        </p:nvSpPr>
        <p:spPr>
          <a:xfrm xmlns:a="http://schemas.openxmlformats.org/drawingml/2006/main">
            <a:off x="7820025" y="3371850"/>
            <a:ext cx="1066800" cy="647700"/>
          </a:xfrm>
          <a:prstGeom xmlns:a="http://schemas.openxmlformats.org/drawingml/2006/main" prst="roundRect">
            <a:avLst>
              <a:gd name="adj" fmla="val 11765"/>
            </a:avLst>
          </a:prstGeom>
          <a:solidFill xmlns:a="http://schemas.openxmlformats.org/drawingml/2006/main">
            <a:srgbClr val="FCEBE7"/>
          </a:solidFill>
          <a:ln xmlns:a="http://schemas.openxmlformats.org/drawingml/2006/main" w="16193">
            <a:solidFill>
              <a:srgbClr val="C9513D"/>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lnSpc>
                <a:spcPct val="100000"/>
              </a:lnSpc>
              <a:buNone/>
              <a:defRPr sz="1013" b="1">
                <a:solidFill>
                  <a:srgbClr val="0B1F33"/>
                </a:solidFill>
                <a:latin typeface="Nimbus Sans"/>
                <a:ea typeface="Nimbus Sans"/>
                <a:cs typeface="Nimbus Sans"/>
              </a:defRPr>
            </a:pPr>
            <a:r>
              <a:rPr sz="1013" b="1">
                <a:solidFill>
                  <a:srgbClr val="0B1F33"/>
                </a:solidFill>
                <a:latin typeface="Nimbus Sans"/>
                <a:ea typeface="Nimbus Sans"/>
                <a:cs typeface="Nimbus Sans"/>
              </a:rPr>
              <a:t>foreach_batch_sink</a:t>
            </a:r>
          </a:p>
          <a:p xmlns:a="http://schemas.openxmlformats.org/drawingml/2006/main">
            <a:pPr algn="ctr">
              <a:lnSpc>
                <a:spcPct val="100000"/>
              </a:lnSpc>
              <a:buNone/>
              <a:defRPr sz="1013" b="1">
                <a:solidFill>
                  <a:srgbClr val="0B1F33"/>
                </a:solidFill>
                <a:latin typeface="Nimbus Sans"/>
                <a:ea typeface="Nimbus Sans"/>
                <a:cs typeface="Nimbus Sans"/>
              </a:defRPr>
            </a:pPr>
            <a:r>
              <a:rPr sz="1013" b="1">
                <a:solidFill>
                  <a:srgbClr val="0B1F33"/>
                </a:solidFill>
                <a:latin typeface="Nimbus Sans"/>
                <a:ea typeface="Nimbus Sans"/>
                <a:cs typeface="Nimbus Sans"/>
              </a:rPr>
              <a:t>explicit write</a:t>
            </a:r>
          </a:p>
        </p:txBody>
      </p:sp>
      <p:sp>
        <p:nvSpPr>
          <p:cNvPr id="30" name="">
            <a:extLst xmlns:a="http://schemas.openxmlformats.org/drawingml/2006/main">
              <a:ext uri="{FF2B5EF4-FFF2-40B4-BE49-F238E27FC236}">
                <a16:creationId xmlns:a16="http://schemas.microsoft.com/office/drawing/2014/main" id="{D334B571-4CF0-4924-9F6E-E4B1664BD089}"/>
              </a:ext>
            </a:extLst>
          </p:cNvPr>
          <p:cNvSpPr>
            <a:spLocks xmlns:a="http://schemas.openxmlformats.org/drawingml/2006/main" noGrp="1"/>
          </p:cNvSpPr>
          <p:nvPr/>
        </p:nvSpPr>
        <p:spPr>
          <a:xfrm xmlns:a="http://schemas.openxmlformats.org/drawingml/2006/main">
            <a:off x="7924800" y="4105275"/>
            <a:ext cx="962025" cy="657225"/>
          </a:xfrm>
          <a:prstGeom xmlns:a="http://schemas.openxmlformats.org/drawingml/2006/main" prst="can">
            <a:avLst/>
          </a:prstGeom>
          <a:solidFill xmlns:a="http://schemas.openxmlformats.org/drawingml/2006/main">
            <a:srgbClr val="E5F5FC"/>
          </a:solidFill>
          <a:ln xmlns:a="http://schemas.openxmlformats.org/drawingml/2006/main" w="18098">
            <a:solidFill>
              <a:srgbClr val="1D6F96"/>
            </a:solidFill>
            <a:prstDash val="solid"/>
          </a:ln>
        </p:spPr>
        <p:txBody>
          <a:bodyPr xmlns:a="http://schemas.openxmlformats.org/drawingml/2006/main" wrap="square" lIns="66675" tIns="47625" rIns="66675" bIns="47625" anchor="ctr">
            <a:normAutofit fontScale="77339"/>
          </a:bodyPr>
          <a:lstStyle xmlns:a="http://schemas.openxmlformats.org/drawingml/2006/main"/>
          <a:p xmlns:a="http://schemas.openxmlformats.org/drawingml/2006/main">
            <a:pPr algn="ctr">
              <a:lnSpc>
                <a:spcPct val="100000"/>
              </a:lnSpc>
              <a:buNone/>
              <a:defRPr sz="1050" b="1">
                <a:solidFill>
                  <a:srgbClr val="1D6F96"/>
                </a:solidFill>
                <a:latin typeface="Nimbus Sans"/>
                <a:ea typeface="Nimbus Sans"/>
                <a:cs typeface="Nimbus Sans"/>
              </a:defRPr>
            </a:pPr>
            <a:r>
              <a:rPr sz="1050" b="1">
                <a:solidFill>
                  <a:srgbClr val="1D6F96"/>
                </a:solidFill>
                <a:latin typeface="Nimbus Sans"/>
                <a:ea typeface="Nimbus Sans"/>
                <a:cs typeface="Nimbus Sans"/>
              </a:rPr>
              <a:t>EXISTING</a:t>
            </a:r>
          </a:p>
          <a:p xmlns:a="http://schemas.openxmlformats.org/drawingml/2006/main">
            <a:pPr algn="ctr">
              <a:lnSpc>
                <a:spcPct val="100000"/>
              </a:lnSpc>
              <a:buNone/>
              <a:defRPr sz="1050" b="1">
                <a:solidFill>
                  <a:srgbClr val="1D6F96"/>
                </a:solidFill>
                <a:latin typeface="Nimbus Sans"/>
                <a:ea typeface="Nimbus Sans"/>
                <a:cs typeface="Nimbus Sans"/>
              </a:defRPr>
            </a:pPr>
            <a:r>
              <a:rPr sz="1050" b="1">
                <a:solidFill>
                  <a:srgbClr val="1D6F96"/>
                </a:solidFill>
                <a:latin typeface="Nimbus Sans"/>
                <a:ea typeface="Nimbus Sans"/>
                <a:cs typeface="Nimbus Sans"/>
              </a:rPr>
              <a:t>ICEBERG TABLE</a:t>
            </a:r>
          </a:p>
        </p:txBody>
      </p:sp>
      <p:cxnSp>
        <p:nvCxnSpPr>
          <p:cNvPr id="98" name=""/>
          <p:cNvCxnSpPr>
            <a:stCxn xmlns:a="http://schemas.openxmlformats.org/drawingml/2006/main" id="14" idx="2"/>
            <a:endCxn xmlns:a="http://schemas.openxmlformats.org/drawingml/2006/main" id="28" idx="0"/>
          </p:cNvCxnSpPr>
          <p:nvPr/>
        </p:nvCxnSpPr>
        <p:spPr>
          <a:xfrm xmlns:a="http://schemas.openxmlformats.org/drawingml/2006/main">
            <a:off x="6276975" y="3286125"/>
            <a:ext cx="909638" cy="295275"/>
          </a:xfrm>
          <a:prstGeom xmlns:a="http://schemas.openxmlformats.org/drawingml/2006/main" prst="straightConnector1">
            <a:avLst/>
          </a:prstGeom>
          <a:ln xmlns:a="http://schemas.openxmlformats.org/drawingml/2006/main" w="20955">
            <a:solidFill>
              <a:srgbClr val="D98022"/>
            </a:solidFill>
            <a:prstDash val="solid"/>
            <a:headEnd type="none" w="med" len="med"/>
            <a:tailEnd type="triangle" w="sm" len="sm"/>
          </a:ln>
        </p:spPr>
      </p:cxnSp>
      <p:cxnSp>
        <p:nvCxnSpPr>
          <p:cNvPr id="99" name=""/>
          <p:cNvCxnSpPr>
            <a:stCxn xmlns:a="http://schemas.openxmlformats.org/drawingml/2006/main" id="28" idx="3"/>
            <a:endCxn xmlns:a="http://schemas.openxmlformats.org/drawingml/2006/main" id="29" idx="1"/>
          </p:cNvCxnSpPr>
          <p:nvPr/>
        </p:nvCxnSpPr>
        <p:spPr>
          <a:xfrm xmlns:a="http://schemas.openxmlformats.org/drawingml/2006/main" flipV="1">
            <a:off x="7705725" y="3695700"/>
            <a:ext cx="114300" cy="180975"/>
          </a:xfrm>
          <a:prstGeom xmlns:a="http://schemas.openxmlformats.org/drawingml/2006/main" prst="straightConnector1">
            <a:avLst/>
          </a:prstGeom>
          <a:ln xmlns:a="http://schemas.openxmlformats.org/drawingml/2006/main" w="20955">
            <a:solidFill>
              <a:srgbClr val="D98022"/>
            </a:solidFill>
            <a:prstDash val="solid"/>
            <a:headEnd type="none" w="med" len="med"/>
            <a:tailEnd type="triangle" w="sm" len="sm"/>
          </a:ln>
        </p:spPr>
      </p:cxnSp>
      <p:cxnSp>
        <p:nvCxnSpPr>
          <p:cNvPr id="100" name=""/>
          <p:cNvCxnSpPr>
            <a:stCxn xmlns:a="http://schemas.openxmlformats.org/drawingml/2006/main" id="29" idx="2"/>
            <a:endCxn xmlns:a="http://schemas.openxmlformats.org/drawingml/2006/main" id="30" idx="1"/>
          </p:cNvCxnSpPr>
          <p:nvPr/>
        </p:nvCxnSpPr>
        <p:spPr>
          <a:xfrm xmlns:a="http://schemas.openxmlformats.org/drawingml/2006/main">
            <a:off x="8353425" y="4019550"/>
            <a:ext cx="52388" cy="85725"/>
          </a:xfrm>
          <a:prstGeom xmlns:a="http://schemas.openxmlformats.org/drawingml/2006/main" prst="straightConnector1">
            <a:avLst/>
          </a:prstGeom>
          <a:ln xmlns:a="http://schemas.openxmlformats.org/drawingml/2006/main" w="20955">
            <a:solidFill>
              <a:srgbClr val="C9513D"/>
            </a:solidFill>
            <a:prstDash val="solid"/>
            <a:headEnd type="none" w="med" len="med"/>
            <a:tailEnd type="triangle" w="sm" len="sm"/>
          </a:ln>
        </p:spPr>
      </p:cxnSp>
      <p:sp>
        <p:nvSpPr>
          <p:cNvPr id="34" name="">
            <a:extLst xmlns:a="http://schemas.openxmlformats.org/drawingml/2006/main">
              <a:ext uri="{FF2B5EF4-FFF2-40B4-BE49-F238E27FC236}">
                <a16:creationId xmlns:a16="http://schemas.microsoft.com/office/drawing/2014/main" id="{578C2156-7551-48F8-9588-C1CDDFB859BA}"/>
              </a:ext>
            </a:extLst>
          </p:cNvPr>
          <p:cNvSpPr>
            <a:spLocks xmlns:a="http://schemas.openxmlformats.org/drawingml/2006/main" noGrp="1"/>
          </p:cNvSpPr>
          <p:nvPr/>
        </p:nvSpPr>
        <p:spPr>
          <a:xfrm xmlns:a="http://schemas.openxmlformats.org/drawingml/2006/main">
            <a:off x="457200" y="4781550"/>
            <a:ext cx="8429625" cy="1581150"/>
          </a:xfrm>
          <a:prstGeom xmlns:a="http://schemas.openxmlformats.org/drawingml/2006/main" prst="roundRect">
            <a:avLst>
              <a:gd name="adj" fmla="val 7229"/>
            </a:avLst>
          </a:prstGeom>
          <a:solidFill xmlns:a="http://schemas.openxmlformats.org/drawingml/2006/main">
            <a:srgbClr val="FFF1DF"/>
          </a:solidFill>
          <a:ln xmlns:a="http://schemas.openxmlformats.org/drawingml/2006/main" w="11430">
            <a:solidFill>
              <a:srgbClr val="E8C18D"/>
            </a:solidFill>
            <a:prstDash val="solid"/>
          </a:ln>
        </p:spPr>
      </p:sp>
      <p:sp>
        <p:nvSpPr>
          <p:cNvPr id="35" name="">
            <a:extLst xmlns:a="http://schemas.openxmlformats.org/drawingml/2006/main">
              <a:ext uri="{FF2B5EF4-FFF2-40B4-BE49-F238E27FC236}">
                <a16:creationId xmlns:a16="http://schemas.microsoft.com/office/drawing/2014/main" id="{7A777101-838B-44F5-97A9-78F749DC54C7}"/>
              </a:ext>
            </a:extLst>
          </p:cNvPr>
          <p:cNvSpPr>
            <a:spLocks xmlns:a="http://schemas.openxmlformats.org/drawingml/2006/main" noGrp="1"/>
          </p:cNvSpPr>
          <p:nvPr/>
        </p:nvSpPr>
        <p:spPr>
          <a:xfrm xmlns:a="http://schemas.openxmlformats.org/drawingml/2006/main">
            <a:off x="609600" y="48577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D98022"/>
                </a:solidFill>
                <a:latin typeface="Nimbus Sans"/>
                <a:ea typeface="Nimbus Sans"/>
                <a:cs typeface="Nimbus Sans"/>
              </a:defRPr>
            </a:pPr>
            <a:r>
              <a:rPr sz="1088" b="1">
                <a:solidFill>
                  <a:srgbClr val="D98022"/>
                </a:solidFill>
                <a:latin typeface="Nimbus Sans"/>
                <a:ea typeface="Nimbus Sans"/>
                <a:cs typeface="Nimbus Sans"/>
              </a:rPr>
              <a:t>AUDIT-DATE BACKFILL</a:t>
            </a:r>
          </a:p>
        </p:txBody>
      </p:sp>
      <p:sp>
        <p:nvSpPr>
          <p:cNvPr id="36" name="">
            <a:extLst xmlns:a="http://schemas.openxmlformats.org/drawingml/2006/main">
              <a:ext uri="{FF2B5EF4-FFF2-40B4-BE49-F238E27FC236}">
                <a16:creationId xmlns:a16="http://schemas.microsoft.com/office/drawing/2014/main" id="{174071A1-9637-4530-9667-22E9F8B4D92E}"/>
              </a:ext>
            </a:extLst>
          </p:cNvPr>
          <p:cNvSpPr>
            <a:spLocks xmlns:a="http://schemas.openxmlformats.org/drawingml/2006/main" noGrp="1"/>
          </p:cNvSpPr>
          <p:nvPr/>
        </p:nvSpPr>
        <p:spPr>
          <a:xfrm xmlns:a="http://schemas.openxmlformats.org/drawingml/2006/main">
            <a:off x="4429125" y="4857750"/>
            <a:ext cx="421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88" b="1">
                <a:solidFill>
                  <a:srgbClr val="C9513D"/>
                </a:solidFill>
                <a:latin typeface="Nimbus Sans"/>
                <a:ea typeface="Nimbus Sans"/>
                <a:cs typeface="Nimbus Sans"/>
              </a:defRPr>
            </a:pPr>
            <a:r>
              <a:rPr sz="1088" b="1">
                <a:solidFill>
                  <a:srgbClr val="C9513D"/>
                </a:solidFill>
                <a:latin typeface="Nimbus Sans"/>
                <a:ea typeface="Nimbus Sans"/>
                <a:cs typeface="Nimbus Sans"/>
              </a:rPr>
              <a:t>Regular Spark batch in Databricks Jobs, not an SDP pipeline</a:t>
            </a:r>
          </a:p>
        </p:txBody>
      </p:sp>
      <p:sp>
        <p:nvSpPr>
          <p:cNvPr id="37" name="">
            <a:extLst xmlns:a="http://schemas.openxmlformats.org/drawingml/2006/main">
              <a:ext uri="{FF2B5EF4-FFF2-40B4-BE49-F238E27FC236}">
                <a16:creationId xmlns:a16="http://schemas.microsoft.com/office/drawing/2014/main" id="{C664F170-19E8-4CA3-8DC2-9A4963838A90}"/>
              </a:ext>
            </a:extLst>
          </p:cNvPr>
          <p:cNvSpPr>
            <a:spLocks xmlns:a="http://schemas.openxmlformats.org/drawingml/2006/main" noGrp="1"/>
          </p:cNvSpPr>
          <p:nvPr/>
        </p:nvSpPr>
        <p:spPr>
          <a:xfrm xmlns:a="http://schemas.openxmlformats.org/drawingml/2006/main">
            <a:off x="647700" y="5334000"/>
            <a:ext cx="1285875" cy="657225"/>
          </a:xfrm>
          <a:prstGeom xmlns:a="http://schemas.openxmlformats.org/drawingml/2006/main" prst="roundRect">
            <a:avLst>
              <a:gd name="adj" fmla="val 11594"/>
            </a:avLst>
          </a:prstGeom>
          <a:solidFill xmlns:a="http://schemas.openxmlformats.org/drawingml/2006/main">
            <a:srgbClr val="FFFFFF"/>
          </a:solidFill>
          <a:ln xmlns:a="http://schemas.openxmlformats.org/drawingml/2006/main" w="16193">
            <a:solidFill>
              <a:srgbClr val="D9802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lnSpc>
                <a:spcPct val="100000"/>
              </a:lnSpc>
              <a:buNone/>
              <a:defRPr sz="1125" b="1">
                <a:solidFill>
                  <a:srgbClr val="0B1F33"/>
                </a:solidFill>
                <a:latin typeface="Nimbus Sans"/>
                <a:ea typeface="Nimbus Sans"/>
                <a:cs typeface="Nimbus Sans"/>
              </a:defRPr>
            </a:pPr>
            <a:r>
              <a:rPr sz="1125" b="1">
                <a:solidFill>
                  <a:srgbClr val="0B1F33"/>
                </a:solidFill>
                <a:latin typeface="Nimbus Sans"/>
                <a:ea typeface="Nimbus Sans"/>
                <a:cs typeface="Nimbus Sans"/>
              </a:rPr>
              <a:t>audit_load_date</a:t>
            </a:r>
          </a:p>
          <a:p xmlns:a="http://schemas.openxmlformats.org/drawingml/2006/main">
            <a:pPr algn="ctr">
              <a:lnSpc>
                <a:spcPct val="100000"/>
              </a:lnSpc>
              <a:buNone/>
              <a:defRPr sz="1125" b="1">
                <a:solidFill>
                  <a:srgbClr val="0B1F33"/>
                </a:solidFill>
                <a:latin typeface="Nimbus Sans"/>
                <a:ea typeface="Nimbus Sans"/>
                <a:cs typeface="Nimbus Sans"/>
              </a:defRPr>
            </a:pPr>
            <a:r>
              <a:rPr sz="1125" b="1">
                <a:solidFill>
                  <a:srgbClr val="0B1F33"/>
                </a:solidFill>
                <a:latin typeface="Nimbus Sans"/>
                <a:ea typeface="Nimbus Sans"/>
                <a:cs typeface="Nimbus Sans"/>
              </a:rPr>
              <a:t>parameter</a:t>
            </a:r>
          </a:p>
        </p:txBody>
      </p:sp>
      <p:sp>
        <p:nvSpPr>
          <p:cNvPr id="38" name="">
            <a:extLst xmlns:a="http://schemas.openxmlformats.org/drawingml/2006/main">
              <a:ext uri="{FF2B5EF4-FFF2-40B4-BE49-F238E27FC236}">
                <a16:creationId xmlns:a16="http://schemas.microsoft.com/office/drawing/2014/main" id="{4C40D442-E8B8-4DF6-95FE-98FD34F247D0}"/>
              </a:ext>
            </a:extLst>
          </p:cNvPr>
          <p:cNvSpPr>
            <a:spLocks xmlns:a="http://schemas.openxmlformats.org/drawingml/2006/main" noGrp="1"/>
          </p:cNvSpPr>
          <p:nvPr/>
        </p:nvSpPr>
        <p:spPr>
          <a:xfrm xmlns:a="http://schemas.openxmlformats.org/drawingml/2006/main">
            <a:off x="2114550" y="5248275"/>
            <a:ext cx="15049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4288">
            <a:solidFill>
              <a:srgbClr val="D9802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lnSpc>
                <a:spcPct val="100000"/>
              </a:lnSpc>
              <a:buNone/>
              <a:defRPr sz="1088" b="1">
                <a:solidFill>
                  <a:srgbClr val="0B1F33"/>
                </a:solidFill>
                <a:latin typeface="Nimbus Sans"/>
                <a:ea typeface="Nimbus Sans"/>
                <a:cs typeface="Nimbus Sans"/>
              </a:defRPr>
            </a:pPr>
            <a:r>
              <a:rPr sz="1088" b="1">
                <a:solidFill>
                  <a:srgbClr val="0B1F33"/>
                </a:solidFill>
                <a:latin typeface="Nimbus Sans"/>
                <a:ea typeface="Nimbus Sans"/>
                <a:cs typeface="Nimbus Sans"/>
              </a:rPr>
              <a:t>BATCH READ A + B</a:t>
            </a:r>
          </a:p>
          <a:p xmlns:a="http://schemas.openxmlformats.org/drawingml/2006/main">
            <a:pPr algn="ctr">
              <a:lnSpc>
                <a:spcPct val="100000"/>
              </a:lnSpc>
              <a:buNone/>
              <a:defRPr sz="1088" b="1">
                <a:solidFill>
                  <a:srgbClr val="0B1F33"/>
                </a:solidFill>
                <a:latin typeface="Nimbus Sans"/>
                <a:ea typeface="Nimbus Sans"/>
                <a:cs typeface="Nimbus Sans"/>
              </a:defRPr>
            </a:pPr>
            <a:r>
              <a:rPr sz="1088" b="1">
                <a:solidFill>
                  <a:srgbClr val="0B1F33"/>
                </a:solidFill>
                <a:latin typeface="Nimbus Sans"/>
                <a:ea typeface="Nimbus Sans"/>
                <a:cs typeface="Nimbus Sans"/>
              </a:rPr>
              <a:t>filter both date slices</a:t>
            </a:r>
          </a:p>
        </p:txBody>
      </p:sp>
      <p:sp>
        <p:nvSpPr>
          <p:cNvPr id="39" name="">
            <a:extLst xmlns:a="http://schemas.openxmlformats.org/drawingml/2006/main">
              <a:ext uri="{FF2B5EF4-FFF2-40B4-BE49-F238E27FC236}">
                <a16:creationId xmlns:a16="http://schemas.microsoft.com/office/drawing/2014/main" id="{413730E3-C0B8-4F15-A164-6555842BB39D}"/>
              </a:ext>
            </a:extLst>
          </p:cNvPr>
          <p:cNvSpPr>
            <a:spLocks xmlns:a="http://schemas.openxmlformats.org/drawingml/2006/main" noGrp="1"/>
          </p:cNvSpPr>
          <p:nvPr/>
        </p:nvSpPr>
        <p:spPr>
          <a:xfrm xmlns:a="http://schemas.openxmlformats.org/drawingml/2006/main">
            <a:off x="3971925" y="5248275"/>
            <a:ext cx="15811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4288">
            <a:solidFill>
              <a:srgbClr val="D9802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lnSpc>
                <a:spcPct val="100000"/>
              </a:lnSpc>
              <a:buNone/>
              <a:defRPr sz="1088" b="1">
                <a:solidFill>
                  <a:srgbClr val="0B1F33"/>
                </a:solidFill>
                <a:latin typeface="Nimbus Sans"/>
                <a:ea typeface="Nimbus Sans"/>
                <a:cs typeface="Nimbus Sans"/>
              </a:defRPr>
            </a:pPr>
            <a:r>
              <a:rPr sz="1088" b="1">
                <a:solidFill>
                  <a:srgbClr val="0B1F33"/>
                </a:solidFill>
                <a:latin typeface="Nimbus Sans"/>
                <a:ea typeface="Nimbus Sans"/>
                <a:cs typeface="Nimbus Sans"/>
              </a:rPr>
              <a:t>JOIN + TRANSFORM</a:t>
            </a:r>
          </a:p>
          <a:p xmlns:a="http://schemas.openxmlformats.org/drawingml/2006/main">
            <a:pPr algn="ctr">
              <a:lnSpc>
                <a:spcPct val="100000"/>
              </a:lnSpc>
              <a:buNone/>
              <a:defRPr sz="1088" b="1">
                <a:solidFill>
                  <a:srgbClr val="0B1F33"/>
                </a:solidFill>
                <a:latin typeface="Nimbus Sans"/>
                <a:ea typeface="Nimbus Sans"/>
                <a:cs typeface="Nimbus Sans"/>
              </a:defRPr>
            </a:pPr>
            <a:r>
              <a:rPr sz="1088" b="1">
                <a:solidFill>
                  <a:srgbClr val="0B1F33"/>
                </a:solidFill>
                <a:latin typeface="Nimbus Sans"/>
                <a:ea typeface="Nimbus Sans"/>
                <a:cs typeface="Nimbus Sans"/>
              </a:rPr>
              <a:t>DQ, dedupe, audit columns</a:t>
            </a:r>
          </a:p>
        </p:txBody>
      </p:sp>
      <p:sp>
        <p:nvSpPr>
          <p:cNvPr id="40" name="">
            <a:extLst xmlns:a="http://schemas.openxmlformats.org/drawingml/2006/main">
              <a:ext uri="{FF2B5EF4-FFF2-40B4-BE49-F238E27FC236}">
                <a16:creationId xmlns:a16="http://schemas.microsoft.com/office/drawing/2014/main" id="{E39A65AB-E23D-4510-9FDC-06E9FFDF501A}"/>
              </a:ext>
            </a:extLst>
          </p:cNvPr>
          <p:cNvSpPr>
            <a:spLocks xmlns:a="http://schemas.openxmlformats.org/drawingml/2006/main" noGrp="1"/>
          </p:cNvSpPr>
          <p:nvPr/>
        </p:nvSpPr>
        <p:spPr>
          <a:xfrm xmlns:a="http://schemas.openxmlformats.org/drawingml/2006/main">
            <a:off x="5895975" y="5248275"/>
            <a:ext cx="1619250" cy="819150"/>
          </a:xfrm>
          <a:prstGeom xmlns:a="http://schemas.openxmlformats.org/drawingml/2006/main" prst="roundRect">
            <a:avLst>
              <a:gd name="adj" fmla="val 9302"/>
            </a:avLst>
          </a:prstGeom>
          <a:solidFill xmlns:a="http://schemas.openxmlformats.org/drawingml/2006/main">
            <a:srgbClr val="FCEBE7"/>
          </a:solidFill>
          <a:ln xmlns:a="http://schemas.openxmlformats.org/drawingml/2006/main" w="16193">
            <a:solidFill>
              <a:srgbClr val="C9513D"/>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lnSpc>
                <a:spcPct val="100000"/>
              </a:lnSpc>
              <a:buNone/>
              <a:defRPr sz="1088" b="1">
                <a:solidFill>
                  <a:srgbClr val="0B1F33"/>
                </a:solidFill>
                <a:latin typeface="Nimbus Sans"/>
                <a:ea typeface="Nimbus Sans"/>
                <a:cs typeface="Nimbus Sans"/>
              </a:defRPr>
            </a:pPr>
            <a:r>
              <a:rPr sz="1088" b="1">
                <a:solidFill>
                  <a:srgbClr val="0B1F33"/>
                </a:solidFill>
                <a:latin typeface="Nimbus Sans"/>
                <a:ea typeface="Nimbus Sans"/>
                <a:cs typeface="Nimbus Sans"/>
              </a:rPr>
              <a:t>IDEMPOTENT WRITE</a:t>
            </a:r>
          </a:p>
          <a:p xmlns:a="http://schemas.openxmlformats.org/drawingml/2006/main">
            <a:pPr algn="ctr">
              <a:lnSpc>
                <a:spcPct val="100000"/>
              </a:lnSpc>
              <a:buNone/>
              <a:defRPr sz="1088" b="1">
                <a:solidFill>
                  <a:srgbClr val="0B1F33"/>
                </a:solidFill>
                <a:latin typeface="Nimbus Sans"/>
                <a:ea typeface="Nimbus Sans"/>
                <a:cs typeface="Nimbus Sans"/>
              </a:defRPr>
            </a:pPr>
            <a:r>
              <a:rPr sz="1088" b="1">
                <a:solidFill>
                  <a:srgbClr val="0B1F33"/>
                </a:solidFill>
                <a:latin typeface="Nimbus Sans"/>
                <a:ea typeface="Nimbus Sans"/>
                <a:cs typeface="Nimbus Sans"/>
              </a:rPr>
              <a:t>MERGE or replace date slice</a:t>
            </a:r>
          </a:p>
        </p:txBody>
      </p:sp>
      <p:sp>
        <p:nvSpPr>
          <p:cNvPr id="41" name="">
            <a:extLst xmlns:a="http://schemas.openxmlformats.org/drawingml/2006/main">
              <a:ext uri="{FF2B5EF4-FFF2-40B4-BE49-F238E27FC236}">
                <a16:creationId xmlns:a16="http://schemas.microsoft.com/office/drawing/2014/main" id="{48DDA80D-1BA9-4221-8CA9-545978AE9A38}"/>
              </a:ext>
            </a:extLst>
          </p:cNvPr>
          <p:cNvSpPr>
            <a:spLocks xmlns:a="http://schemas.openxmlformats.org/drawingml/2006/main" noGrp="1"/>
          </p:cNvSpPr>
          <p:nvPr/>
        </p:nvSpPr>
        <p:spPr>
          <a:xfrm xmlns:a="http://schemas.openxmlformats.org/drawingml/2006/main">
            <a:off x="7848600" y="5305425"/>
            <a:ext cx="866775" cy="704850"/>
          </a:xfrm>
          <a:prstGeom xmlns:a="http://schemas.openxmlformats.org/drawingml/2006/main" prst="can">
            <a:avLst/>
          </a:prstGeom>
          <a:solidFill xmlns:a="http://schemas.openxmlformats.org/drawingml/2006/main">
            <a:srgbClr val="E5F5FC"/>
          </a:solidFill>
          <a:ln xmlns:a="http://schemas.openxmlformats.org/drawingml/2006/main" w="18098">
            <a:solidFill>
              <a:srgbClr val="1D6F96"/>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lnSpc>
                <a:spcPct val="100000"/>
              </a:lnSpc>
              <a:buNone/>
              <a:defRPr sz="1088" b="1">
                <a:solidFill>
                  <a:srgbClr val="1D6F96"/>
                </a:solidFill>
                <a:latin typeface="Nimbus Sans"/>
                <a:ea typeface="Nimbus Sans"/>
                <a:cs typeface="Nimbus Sans"/>
              </a:defRPr>
            </a:pPr>
            <a:r>
              <a:rPr sz="1088" b="1">
                <a:solidFill>
                  <a:srgbClr val="1D6F96"/>
                </a:solidFill>
                <a:latin typeface="Nimbus Sans"/>
                <a:ea typeface="Nimbus Sans"/>
                <a:cs typeface="Nimbus Sans"/>
              </a:rPr>
              <a:t>ICEBERG</a:t>
            </a:r>
          </a:p>
          <a:p xmlns:a="http://schemas.openxmlformats.org/drawingml/2006/main">
            <a:pPr algn="ctr">
              <a:lnSpc>
                <a:spcPct val="100000"/>
              </a:lnSpc>
              <a:buNone/>
              <a:defRPr sz="1088" b="1">
                <a:solidFill>
                  <a:srgbClr val="1D6F96"/>
                </a:solidFill>
                <a:latin typeface="Nimbus Sans"/>
                <a:ea typeface="Nimbus Sans"/>
                <a:cs typeface="Nimbus Sans"/>
              </a:defRPr>
            </a:pPr>
            <a:r>
              <a:rPr sz="1088" b="1">
                <a:solidFill>
                  <a:srgbClr val="1D6F96"/>
                </a:solidFill>
                <a:latin typeface="Nimbus Sans"/>
                <a:ea typeface="Nimbus Sans"/>
                <a:cs typeface="Nimbus Sans"/>
              </a:rPr>
              <a:t>TARGET</a:t>
            </a:r>
          </a:p>
        </p:txBody>
      </p:sp>
      <p:cxnSp>
        <p:nvCxnSpPr>
          <p:cNvPr id="109" name=""/>
          <p:cNvCxnSpPr>
            <a:stCxn xmlns:a="http://schemas.openxmlformats.org/drawingml/2006/main" id="37" idx="3"/>
            <a:endCxn xmlns:a="http://schemas.openxmlformats.org/drawingml/2006/main" id="38" idx="1"/>
          </p:cNvCxnSpPr>
          <p:nvPr/>
        </p:nvCxnSpPr>
        <p:spPr>
          <a:xfrm xmlns:a="http://schemas.openxmlformats.org/drawingml/2006/main" flipV="1">
            <a:off x="1933575" y="5657850"/>
            <a:ext cx="180975" cy="4763"/>
          </a:xfrm>
          <a:prstGeom xmlns:a="http://schemas.openxmlformats.org/drawingml/2006/main" prst="straightConnector1">
            <a:avLst/>
          </a:prstGeom>
          <a:ln xmlns:a="http://schemas.openxmlformats.org/drawingml/2006/main" w="20955">
            <a:solidFill>
              <a:srgbClr val="D98022"/>
            </a:solidFill>
            <a:prstDash val="solid"/>
            <a:headEnd type="none" w="med" len="med"/>
            <a:tailEnd type="triangle" w="sm" len="sm"/>
          </a:ln>
        </p:spPr>
      </p:cxnSp>
      <p:cxnSp>
        <p:nvCxnSpPr>
          <p:cNvPr id="110" name=""/>
          <p:cNvCxnSpPr>
            <a:stCxn xmlns:a="http://schemas.openxmlformats.org/drawingml/2006/main" id="38" idx="3"/>
            <a:endCxn xmlns:a="http://schemas.openxmlformats.org/drawingml/2006/main" id="39" idx="1"/>
          </p:cNvCxnSpPr>
          <p:nvPr/>
        </p:nvCxnSpPr>
        <p:spPr>
          <a:xfrm xmlns:a="http://schemas.openxmlformats.org/drawingml/2006/main">
            <a:off x="3619500" y="5657850"/>
            <a:ext cx="352425" cy="0"/>
          </a:xfrm>
          <a:prstGeom xmlns:a="http://schemas.openxmlformats.org/drawingml/2006/main" prst="straightConnector1">
            <a:avLst/>
          </a:prstGeom>
          <a:ln xmlns:a="http://schemas.openxmlformats.org/drawingml/2006/main" w="20955">
            <a:solidFill>
              <a:srgbClr val="D98022"/>
            </a:solidFill>
            <a:prstDash val="solid"/>
            <a:headEnd type="none" w="med" len="med"/>
            <a:tailEnd type="triangle" w="sm" len="sm"/>
          </a:ln>
        </p:spPr>
      </p:cxnSp>
      <p:cxnSp>
        <p:nvCxnSpPr>
          <p:cNvPr id="111" name=""/>
          <p:cNvCxnSpPr>
            <a:stCxn xmlns:a="http://schemas.openxmlformats.org/drawingml/2006/main" id="39" idx="3"/>
            <a:endCxn xmlns:a="http://schemas.openxmlformats.org/drawingml/2006/main" id="40" idx="1"/>
          </p:cNvCxnSpPr>
          <p:nvPr/>
        </p:nvCxnSpPr>
        <p:spPr>
          <a:xfrm xmlns:a="http://schemas.openxmlformats.org/drawingml/2006/main">
            <a:off x="5553075" y="5657850"/>
            <a:ext cx="342900" cy="0"/>
          </a:xfrm>
          <a:prstGeom xmlns:a="http://schemas.openxmlformats.org/drawingml/2006/main" prst="straightConnector1">
            <a:avLst/>
          </a:prstGeom>
          <a:ln xmlns:a="http://schemas.openxmlformats.org/drawingml/2006/main" w="20955">
            <a:solidFill>
              <a:srgbClr val="D98022"/>
            </a:solidFill>
            <a:prstDash val="solid"/>
            <a:headEnd type="none" w="med" len="med"/>
            <a:tailEnd type="triangle" w="sm" len="sm"/>
          </a:ln>
        </p:spPr>
      </p:cxnSp>
      <p:cxnSp>
        <p:nvCxnSpPr>
          <p:cNvPr id="112" name=""/>
          <p:cNvCxnSpPr>
            <a:stCxn xmlns:a="http://schemas.openxmlformats.org/drawingml/2006/main" id="40" idx="3"/>
            <a:endCxn xmlns:a="http://schemas.openxmlformats.org/drawingml/2006/main" id="41" idx="2"/>
          </p:cNvCxnSpPr>
          <p:nvPr/>
        </p:nvCxnSpPr>
        <p:spPr>
          <a:xfrm xmlns:a="http://schemas.openxmlformats.org/drawingml/2006/main">
            <a:off x="7515225" y="5657850"/>
            <a:ext cx="333375" cy="0"/>
          </a:xfrm>
          <a:prstGeom xmlns:a="http://schemas.openxmlformats.org/drawingml/2006/main" prst="straightConnector1">
            <a:avLst/>
          </a:prstGeom>
          <a:ln xmlns:a="http://schemas.openxmlformats.org/drawingml/2006/main" w="20955">
            <a:solidFill>
              <a:srgbClr val="C9513D"/>
            </a:solidFill>
            <a:prstDash val="solid"/>
            <a:headEnd type="none" w="med" len="med"/>
            <a:tailEnd type="triangle" w="sm" len="sm"/>
          </a:ln>
        </p:spPr>
      </p:cxnSp>
      <p:sp>
        <p:nvSpPr>
          <p:cNvPr id="46" name="">
            <a:extLst xmlns:a="http://schemas.openxmlformats.org/drawingml/2006/main">
              <a:ext uri="{FF2B5EF4-FFF2-40B4-BE49-F238E27FC236}">
                <a16:creationId xmlns:a16="http://schemas.microsoft.com/office/drawing/2014/main" id="{A1C92050-B38F-46B4-902D-2F1581AD8686}"/>
              </a:ext>
            </a:extLst>
          </p:cNvPr>
          <p:cNvSpPr>
            <a:spLocks xmlns:a="http://schemas.openxmlformats.org/drawingml/2006/main" noGrp="1"/>
          </p:cNvSpPr>
          <p:nvPr/>
        </p:nvSpPr>
        <p:spPr>
          <a:xfrm xmlns:a="http://schemas.openxmlformats.org/drawingml/2006/main">
            <a:off x="9124950" y="1123950"/>
            <a:ext cx="2609850" cy="5238750"/>
          </a:xfrm>
          <a:prstGeom xmlns:a="http://schemas.openxmlformats.org/drawingml/2006/main" prst="roundRect">
            <a:avLst>
              <a:gd name="adj" fmla="val 4380"/>
            </a:avLst>
          </a:prstGeom>
          <a:solidFill xmlns:a="http://schemas.openxmlformats.org/drawingml/2006/main">
            <a:srgbClr val="FFFFFF"/>
          </a:solidFill>
          <a:ln xmlns:a="http://schemas.openxmlformats.org/drawingml/2006/main" w="10478">
            <a:solidFill>
              <a:srgbClr val="D6E0E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7" name="">
            <a:extLst xmlns:a="http://schemas.openxmlformats.org/drawingml/2006/main">
              <a:ext uri="{FF2B5EF4-FFF2-40B4-BE49-F238E27FC236}">
                <a16:creationId xmlns:a16="http://schemas.microsoft.com/office/drawing/2014/main" id="{00ADB749-EC47-4FA5-AAA2-16AADCCDDE46}"/>
              </a:ext>
            </a:extLst>
          </p:cNvPr>
          <p:cNvSpPr>
            <a:spLocks xmlns:a="http://schemas.openxmlformats.org/drawingml/2006/main" noGrp="1"/>
          </p:cNvSpPr>
          <p:nvPr/>
        </p:nvSpPr>
        <p:spPr>
          <a:xfrm xmlns:a="http://schemas.openxmlformats.org/drawingml/2006/main">
            <a:off x="9315450" y="12858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25" b="1">
                <a:solidFill>
                  <a:srgbClr val="0B1F33"/>
                </a:solidFill>
                <a:latin typeface="Nimbus Sans"/>
                <a:ea typeface="Nimbus Sans"/>
                <a:cs typeface="Nimbus Sans"/>
              </a:defRPr>
            </a:pPr>
            <a:r>
              <a:rPr sz="1125" b="1">
                <a:solidFill>
                  <a:srgbClr val="0B1F33"/>
                </a:solidFill>
                <a:latin typeface="Nimbus Sans"/>
                <a:ea typeface="Nimbus Sans"/>
                <a:cs typeface="Nimbus Sans"/>
              </a:rPr>
              <a:t>DATASET TYPES</a:t>
            </a:r>
          </a:p>
        </p:txBody>
      </p:sp>
      <p:sp>
        <p:nvSpPr>
          <p:cNvPr id="48" name="">
            <a:extLst xmlns:a="http://schemas.openxmlformats.org/drawingml/2006/main">
              <a:ext uri="{FF2B5EF4-FFF2-40B4-BE49-F238E27FC236}">
                <a16:creationId xmlns:a16="http://schemas.microsoft.com/office/drawing/2014/main" id="{184445AA-21FB-4F88-A552-7AC8D2196C4C}"/>
              </a:ext>
            </a:extLst>
          </p:cNvPr>
          <p:cNvSpPr>
            <a:spLocks xmlns:a="http://schemas.openxmlformats.org/drawingml/2006/main" noGrp="1"/>
          </p:cNvSpPr>
          <p:nvPr/>
        </p:nvSpPr>
        <p:spPr>
          <a:xfrm xmlns:a="http://schemas.openxmlformats.org/drawingml/2006/main">
            <a:off x="9334500" y="1657350"/>
            <a:ext cx="323850" cy="323850"/>
          </a:xfrm>
          <a:prstGeom xmlns:a="http://schemas.openxmlformats.org/drawingml/2006/main" prst="ellipse">
            <a:avLst/>
          </a:prstGeom>
          <a:solidFill xmlns:a="http://schemas.openxmlformats.org/drawingml/2006/main">
            <a:srgbClr val="1F6D9C"/>
          </a:solidFill>
          <a:ln xmlns:a="http://schemas.openxmlformats.org/drawingml/2006/main" w="0">
            <a:solidFill>
              <a:srgbClr val="1F6D9C"/>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a:solidFill>
                  <a:srgbClr val="FFFFFF"/>
                </a:solidFill>
                <a:latin typeface="Nimbus Sans"/>
                <a:ea typeface="Nimbus Sans"/>
                <a:cs typeface="Nimbus Sans"/>
              </a:defRPr>
            </a:pPr>
            <a:r>
              <a:rPr sz="975" b="1">
                <a:solidFill>
                  <a:srgbClr val="FFFFFF"/>
                </a:solidFill>
                <a:latin typeface="Nimbus Sans"/>
                <a:ea typeface="Nimbus Sans"/>
                <a:cs typeface="Nimbus Sans"/>
              </a:rPr>
              <a:t>ST</a:t>
            </a:r>
          </a:p>
        </p:txBody>
      </p:sp>
      <p:sp>
        <p:nvSpPr>
          <p:cNvPr id="49" name="">
            <a:extLst xmlns:a="http://schemas.openxmlformats.org/drawingml/2006/main">
              <a:ext uri="{FF2B5EF4-FFF2-40B4-BE49-F238E27FC236}">
                <a16:creationId xmlns:a16="http://schemas.microsoft.com/office/drawing/2014/main" id="{015162A1-E1C5-4EE1-A4AA-9E9A30CB4B6C}"/>
              </a:ext>
            </a:extLst>
          </p:cNvPr>
          <p:cNvSpPr>
            <a:spLocks xmlns:a="http://schemas.openxmlformats.org/drawingml/2006/main" noGrp="1"/>
          </p:cNvSpPr>
          <p:nvPr/>
        </p:nvSpPr>
        <p:spPr>
          <a:xfrm xmlns:a="http://schemas.openxmlformats.org/drawingml/2006/main">
            <a:off x="9744075" y="1600200"/>
            <a:ext cx="1790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Streaming table</a:t>
            </a:r>
          </a:p>
          <a:p xmlns:a="http://schemas.openxmlformats.org/drawingml/2006/main">
            <a:pPr algn="l">
              <a:lnSpc>
                <a:spcPct val="100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Persistent, incremental state</a:t>
            </a:r>
          </a:p>
        </p:txBody>
      </p:sp>
      <p:sp>
        <p:nvSpPr>
          <p:cNvPr id="50" name="">
            <a:extLst xmlns:a="http://schemas.openxmlformats.org/drawingml/2006/main">
              <a:ext uri="{FF2B5EF4-FFF2-40B4-BE49-F238E27FC236}">
                <a16:creationId xmlns:a16="http://schemas.microsoft.com/office/drawing/2014/main" id="{E63DFACB-19A6-4AA2-A8CF-6603E5E9F006}"/>
              </a:ext>
            </a:extLst>
          </p:cNvPr>
          <p:cNvSpPr>
            <a:spLocks xmlns:a="http://schemas.openxmlformats.org/drawingml/2006/main" noGrp="1"/>
          </p:cNvSpPr>
          <p:nvPr/>
        </p:nvSpPr>
        <p:spPr>
          <a:xfrm xmlns:a="http://schemas.openxmlformats.org/drawingml/2006/main">
            <a:off x="9334500" y="2152650"/>
            <a:ext cx="323850" cy="323850"/>
          </a:xfrm>
          <a:prstGeom xmlns:a="http://schemas.openxmlformats.org/drawingml/2006/main" prst="ellipse">
            <a:avLst/>
          </a:prstGeom>
          <a:solidFill xmlns:a="http://schemas.openxmlformats.org/drawingml/2006/main">
            <a:srgbClr val="168B82"/>
          </a:solidFill>
          <a:ln xmlns:a="http://schemas.openxmlformats.org/drawingml/2006/main" w="0">
            <a:solidFill>
              <a:srgbClr val="168B82"/>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38" b="1">
                <a:solidFill>
                  <a:srgbClr val="FFFFFF"/>
                </a:solidFill>
                <a:latin typeface="Nimbus Sans"/>
                <a:ea typeface="Nimbus Sans"/>
                <a:cs typeface="Nimbus Sans"/>
              </a:defRPr>
            </a:pPr>
            <a:r>
              <a:rPr sz="938" b="1">
                <a:solidFill>
                  <a:srgbClr val="FFFFFF"/>
                </a:solidFill>
                <a:latin typeface="Nimbus Sans"/>
                <a:ea typeface="Nimbus Sans"/>
                <a:cs typeface="Nimbus Sans"/>
              </a:rPr>
              <a:t>MV</a:t>
            </a:r>
          </a:p>
        </p:txBody>
      </p:sp>
      <p:sp>
        <p:nvSpPr>
          <p:cNvPr id="51" name="">
            <a:extLst xmlns:a="http://schemas.openxmlformats.org/drawingml/2006/main">
              <a:ext uri="{FF2B5EF4-FFF2-40B4-BE49-F238E27FC236}">
                <a16:creationId xmlns:a16="http://schemas.microsoft.com/office/drawing/2014/main" id="{434C5301-E68D-4E04-B519-9A93F4C15BBE}"/>
              </a:ext>
            </a:extLst>
          </p:cNvPr>
          <p:cNvSpPr>
            <a:spLocks xmlns:a="http://schemas.openxmlformats.org/drawingml/2006/main" noGrp="1"/>
          </p:cNvSpPr>
          <p:nvPr/>
        </p:nvSpPr>
        <p:spPr>
          <a:xfrm xmlns:a="http://schemas.openxmlformats.org/drawingml/2006/main">
            <a:off x="9744075" y="2095500"/>
            <a:ext cx="1790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338"/>
          </a:bodyPr>
          <a:lstStyle xmlns:a="http://schemas.openxmlformats.org/drawingml/2006/main"/>
          <a:p xmlns:a="http://schemas.openxmlformats.org/drawingml/2006/main">
            <a:pPr algn="l">
              <a:lnSpc>
                <a:spcPct val="100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Materialized view</a:t>
            </a:r>
          </a:p>
          <a:p xmlns:a="http://schemas.openxmlformats.org/drawingml/2006/main">
            <a:pPr algn="l">
              <a:lnSpc>
                <a:spcPct val="100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Persistent, batch-style refresh</a:t>
            </a:r>
          </a:p>
        </p:txBody>
      </p:sp>
      <p:sp>
        <p:nvSpPr>
          <p:cNvPr id="52" name="">
            <a:extLst xmlns:a="http://schemas.openxmlformats.org/drawingml/2006/main">
              <a:ext uri="{FF2B5EF4-FFF2-40B4-BE49-F238E27FC236}">
                <a16:creationId xmlns:a16="http://schemas.microsoft.com/office/drawing/2014/main" id="{9E9B0521-06F9-47B1-8946-973AFFCD7B15}"/>
              </a:ext>
            </a:extLst>
          </p:cNvPr>
          <p:cNvSpPr>
            <a:spLocks xmlns:a="http://schemas.openxmlformats.org/drawingml/2006/main" noGrp="1"/>
          </p:cNvSpPr>
          <p:nvPr/>
        </p:nvSpPr>
        <p:spPr>
          <a:xfrm xmlns:a="http://schemas.openxmlformats.org/drawingml/2006/main">
            <a:off x="9334500" y="2647950"/>
            <a:ext cx="323850" cy="323850"/>
          </a:xfrm>
          <a:prstGeom xmlns:a="http://schemas.openxmlformats.org/drawingml/2006/main" prst="ellipse">
            <a:avLst/>
          </a:prstGeom>
          <a:solidFill xmlns:a="http://schemas.openxmlformats.org/drawingml/2006/main">
            <a:srgbClr val="7B8794"/>
          </a:solidFill>
          <a:ln xmlns:a="http://schemas.openxmlformats.org/drawingml/2006/main" w="0">
            <a:solidFill>
              <a:srgbClr val="7B8794"/>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38" b="1">
                <a:solidFill>
                  <a:srgbClr val="FFFFFF"/>
                </a:solidFill>
                <a:latin typeface="Nimbus Sans"/>
                <a:ea typeface="Nimbus Sans"/>
                <a:cs typeface="Nimbus Sans"/>
              </a:defRPr>
            </a:pPr>
            <a:r>
              <a:rPr sz="938" b="1">
                <a:solidFill>
                  <a:srgbClr val="FFFFFF"/>
                </a:solidFill>
                <a:latin typeface="Nimbus Sans"/>
                <a:ea typeface="Nimbus Sans"/>
                <a:cs typeface="Nimbus Sans"/>
              </a:rPr>
              <a:t>TV</a:t>
            </a:r>
          </a:p>
        </p:txBody>
      </p:sp>
      <p:sp>
        <p:nvSpPr>
          <p:cNvPr id="53" name="">
            <a:extLst xmlns:a="http://schemas.openxmlformats.org/drawingml/2006/main">
              <a:ext uri="{FF2B5EF4-FFF2-40B4-BE49-F238E27FC236}">
                <a16:creationId xmlns:a16="http://schemas.microsoft.com/office/drawing/2014/main" id="{8BB16E48-01D6-4211-9C68-08168B2FBE8A}"/>
              </a:ext>
            </a:extLst>
          </p:cNvPr>
          <p:cNvSpPr>
            <a:spLocks xmlns:a="http://schemas.openxmlformats.org/drawingml/2006/main" noGrp="1"/>
          </p:cNvSpPr>
          <p:nvPr/>
        </p:nvSpPr>
        <p:spPr>
          <a:xfrm xmlns:a="http://schemas.openxmlformats.org/drawingml/2006/main">
            <a:off x="9744075" y="2590800"/>
            <a:ext cx="1790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800"/>
          </a:bodyPr>
          <a:lstStyle xmlns:a="http://schemas.openxmlformats.org/drawingml/2006/main"/>
          <a:p xmlns:a="http://schemas.openxmlformats.org/drawingml/2006/main">
            <a:pPr algn="l">
              <a:lnSpc>
                <a:spcPct val="100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Temporary view</a:t>
            </a:r>
          </a:p>
          <a:p xmlns:a="http://schemas.openxmlformats.org/drawingml/2006/main">
            <a:pPr algn="l">
              <a:lnSpc>
                <a:spcPct val="100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Pipeline scoped, not persisted</a:t>
            </a:r>
          </a:p>
        </p:txBody>
      </p:sp>
      <p:sp>
        <p:nvSpPr>
          <p:cNvPr id="54" name="">
            <a:extLst xmlns:a="http://schemas.openxmlformats.org/drawingml/2006/main">
              <a:ext uri="{FF2B5EF4-FFF2-40B4-BE49-F238E27FC236}">
                <a16:creationId xmlns:a16="http://schemas.microsoft.com/office/drawing/2014/main" id="{627BAD84-1E39-4570-86F6-E46E5F5A65C6}"/>
              </a:ext>
            </a:extLst>
          </p:cNvPr>
          <p:cNvSpPr>
            <a:spLocks xmlns:a="http://schemas.openxmlformats.org/drawingml/2006/main" noGrp="1"/>
          </p:cNvSpPr>
          <p:nvPr/>
        </p:nvSpPr>
        <p:spPr>
          <a:xfrm xmlns:a="http://schemas.openxmlformats.org/drawingml/2006/main">
            <a:off x="9315450" y="3152775"/>
            <a:ext cx="2219325" cy="0"/>
          </a:xfrm>
          <a:prstGeom xmlns:a="http://schemas.openxmlformats.org/drawingml/2006/main" prst="line">
            <a:avLst/>
          </a:prstGeom>
          <a:noFill xmlns:a="http://schemas.openxmlformats.org/drawingml/2006/main"/>
          <a:ln xmlns:a="http://schemas.openxmlformats.org/drawingml/2006/main" w="10478">
            <a:solidFill>
              <a:srgbClr val="DDE5EA"/>
            </a:solidFill>
            <a:prstDash val="solid"/>
          </a:ln>
        </p:spPr>
      </p:sp>
      <p:sp>
        <p:nvSpPr>
          <p:cNvPr id="55" name="">
            <a:extLst xmlns:a="http://schemas.openxmlformats.org/drawingml/2006/main">
              <a:ext uri="{FF2B5EF4-FFF2-40B4-BE49-F238E27FC236}">
                <a16:creationId xmlns:a16="http://schemas.microsoft.com/office/drawing/2014/main" id="{2D1BD7ED-397B-4493-B9C0-3EE3A2165D04}"/>
              </a:ext>
            </a:extLst>
          </p:cNvPr>
          <p:cNvSpPr>
            <a:spLocks xmlns:a="http://schemas.openxmlformats.org/drawingml/2006/main" noGrp="1"/>
          </p:cNvSpPr>
          <p:nvPr/>
        </p:nvSpPr>
        <p:spPr>
          <a:xfrm xmlns:a="http://schemas.openxmlformats.org/drawingml/2006/main">
            <a:off x="9315450" y="3295650"/>
            <a:ext cx="2219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25" b="1">
                <a:solidFill>
                  <a:srgbClr val="0B1F33"/>
                </a:solidFill>
                <a:latin typeface="Nimbus Sans"/>
                <a:ea typeface="Nimbus Sans"/>
                <a:cs typeface="Nimbus Sans"/>
              </a:defRPr>
            </a:pPr>
            <a:r>
              <a:rPr sz="1125" b="1">
                <a:solidFill>
                  <a:srgbClr val="0B1F33"/>
                </a:solidFill>
                <a:latin typeface="Nimbus Sans"/>
                <a:ea typeface="Nimbus Sans"/>
                <a:cs typeface="Nimbus Sans"/>
              </a:rPr>
              <a:t>LIMITATIONS AND CONTROLS</a:t>
            </a:r>
          </a:p>
        </p:txBody>
      </p:sp>
      <p:sp>
        <p:nvSpPr>
          <p:cNvPr id="56" name="">
            <a:extLst xmlns:a="http://schemas.openxmlformats.org/drawingml/2006/main">
              <a:ext uri="{FF2B5EF4-FFF2-40B4-BE49-F238E27FC236}">
                <a16:creationId xmlns:a16="http://schemas.microsoft.com/office/drawing/2014/main" id="{40086377-7123-410B-AF2C-A7D33E0946C0}"/>
              </a:ext>
            </a:extLst>
          </p:cNvPr>
          <p:cNvSpPr>
            <a:spLocks xmlns:a="http://schemas.openxmlformats.org/drawingml/2006/main" noGrp="1"/>
          </p:cNvSpPr>
          <p:nvPr/>
        </p:nvSpPr>
        <p:spPr>
          <a:xfrm xmlns:a="http://schemas.openxmlformats.org/drawingml/2006/main">
            <a:off x="9334500" y="3695700"/>
            <a:ext cx="95250" cy="95250"/>
          </a:xfrm>
          <a:prstGeom xmlns:a="http://schemas.openxmlformats.org/drawingml/2006/main" prst="ellipse">
            <a:avLst/>
          </a:prstGeom>
          <a:solidFill xmlns:a="http://schemas.openxmlformats.org/drawingml/2006/main">
            <a:srgbClr val="C9513D"/>
          </a:solidFill>
          <a:ln xmlns:a="http://schemas.openxmlformats.org/drawingml/2006/main" w="0">
            <a:solidFill>
              <a:srgbClr val="C9513D"/>
            </a:solidFill>
            <a:prstDash val="solid"/>
          </a:ln>
        </p:spPr>
      </p:sp>
      <p:sp>
        <p:nvSpPr>
          <p:cNvPr id="57" name="">
            <a:extLst xmlns:a="http://schemas.openxmlformats.org/drawingml/2006/main">
              <a:ext uri="{FF2B5EF4-FFF2-40B4-BE49-F238E27FC236}">
                <a16:creationId xmlns:a16="http://schemas.microsoft.com/office/drawing/2014/main" id="{4105B832-3011-4934-8920-5628F73F854A}"/>
              </a:ext>
            </a:extLst>
          </p:cNvPr>
          <p:cNvSpPr>
            <a:spLocks xmlns:a="http://schemas.openxmlformats.org/drawingml/2006/main" noGrp="1"/>
          </p:cNvSpPr>
          <p:nvPr/>
        </p:nvSpPr>
        <p:spPr>
          <a:xfrm xmlns:a="http://schemas.openxmlformats.org/drawingml/2006/main">
            <a:off x="9505950" y="361950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764"/>
          </a:bodyPr>
          <a:lstStyle xmlns:a="http://schemas.openxmlformats.org/drawingml/2006/main"/>
          <a:p xmlns:a="http://schemas.openxmlformats.org/drawingml/2006/main">
            <a:pPr algn="l">
              <a:lnSpc>
                <a:spcPct val="103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Stream-stream joins are stateful. Bound state with event time and watermarks.</a:t>
            </a:r>
          </a:p>
        </p:txBody>
      </p:sp>
      <p:sp>
        <p:nvSpPr>
          <p:cNvPr id="58" name="">
            <a:extLst xmlns:a="http://schemas.openxmlformats.org/drawingml/2006/main">
              <a:ext uri="{FF2B5EF4-FFF2-40B4-BE49-F238E27FC236}">
                <a16:creationId xmlns:a16="http://schemas.microsoft.com/office/drawing/2014/main" id="{A317BFA2-FD5E-40E8-A05D-EC8CC21176C7}"/>
              </a:ext>
            </a:extLst>
          </p:cNvPr>
          <p:cNvSpPr>
            <a:spLocks xmlns:a="http://schemas.openxmlformats.org/drawingml/2006/main" noGrp="1"/>
          </p:cNvSpPr>
          <p:nvPr/>
        </p:nvSpPr>
        <p:spPr>
          <a:xfrm xmlns:a="http://schemas.openxmlformats.org/drawingml/2006/main">
            <a:off x="9334500" y="4143375"/>
            <a:ext cx="95250" cy="95250"/>
          </a:xfrm>
          <a:prstGeom xmlns:a="http://schemas.openxmlformats.org/drawingml/2006/main" prst="ellipse">
            <a:avLst/>
          </a:prstGeom>
          <a:solidFill xmlns:a="http://schemas.openxmlformats.org/drawingml/2006/main">
            <a:srgbClr val="1F6D9C"/>
          </a:solidFill>
          <a:ln xmlns:a="http://schemas.openxmlformats.org/drawingml/2006/main" w="0">
            <a:solidFill>
              <a:srgbClr val="1F6D9C"/>
            </a:solidFill>
            <a:prstDash val="solid"/>
          </a:ln>
        </p:spPr>
      </p:sp>
      <p:sp>
        <p:nvSpPr>
          <p:cNvPr id="59" name="">
            <a:extLst xmlns:a="http://schemas.openxmlformats.org/drawingml/2006/main">
              <a:ext uri="{FF2B5EF4-FFF2-40B4-BE49-F238E27FC236}">
                <a16:creationId xmlns:a16="http://schemas.microsoft.com/office/drawing/2014/main" id="{7247EE0B-07AF-4711-B654-483155BD9717}"/>
              </a:ext>
            </a:extLst>
          </p:cNvPr>
          <p:cNvSpPr>
            <a:spLocks xmlns:a="http://schemas.openxmlformats.org/drawingml/2006/main" noGrp="1"/>
          </p:cNvSpPr>
          <p:nvPr/>
        </p:nvSpPr>
        <p:spPr>
          <a:xfrm xmlns:a="http://schemas.openxmlformats.org/drawingml/2006/main">
            <a:off x="9505950" y="4067175"/>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Alias both inputs and qualify duplicate column names.</a:t>
            </a:r>
          </a:p>
        </p:txBody>
      </p:sp>
      <p:sp>
        <p:nvSpPr>
          <p:cNvPr id="60" name="">
            <a:extLst xmlns:a="http://schemas.openxmlformats.org/drawingml/2006/main">
              <a:ext uri="{FF2B5EF4-FFF2-40B4-BE49-F238E27FC236}">
                <a16:creationId xmlns:a16="http://schemas.microsoft.com/office/drawing/2014/main" id="{0BC849FD-2C83-400B-A031-B0918C5B5FAE}"/>
              </a:ext>
            </a:extLst>
          </p:cNvPr>
          <p:cNvSpPr>
            <a:spLocks xmlns:a="http://schemas.openxmlformats.org/drawingml/2006/main" noGrp="1"/>
          </p:cNvSpPr>
          <p:nvPr/>
        </p:nvSpPr>
        <p:spPr>
          <a:xfrm xmlns:a="http://schemas.openxmlformats.org/drawingml/2006/main">
            <a:off x="9334500" y="4591050"/>
            <a:ext cx="95250" cy="95250"/>
          </a:xfrm>
          <a:prstGeom xmlns:a="http://schemas.openxmlformats.org/drawingml/2006/main" prst="ellipse">
            <a:avLst/>
          </a:prstGeom>
          <a:solidFill xmlns:a="http://schemas.openxmlformats.org/drawingml/2006/main">
            <a:srgbClr val="C9513D"/>
          </a:solidFill>
          <a:ln xmlns:a="http://schemas.openxmlformats.org/drawingml/2006/main" w="0">
            <a:solidFill>
              <a:srgbClr val="C9513D"/>
            </a:solidFill>
            <a:prstDash val="solid"/>
          </a:ln>
        </p:spPr>
      </p:sp>
      <p:sp>
        <p:nvSpPr>
          <p:cNvPr id="61" name="">
            <a:extLst xmlns:a="http://schemas.openxmlformats.org/drawingml/2006/main">
              <a:ext uri="{FF2B5EF4-FFF2-40B4-BE49-F238E27FC236}">
                <a16:creationId xmlns:a16="http://schemas.microsoft.com/office/drawing/2014/main" id="{DC3EC08C-E527-47FC-901F-22D71626FA78}"/>
              </a:ext>
            </a:extLst>
          </p:cNvPr>
          <p:cNvSpPr>
            <a:spLocks xmlns:a="http://schemas.openxmlformats.org/drawingml/2006/main" noGrp="1"/>
          </p:cNvSpPr>
          <p:nvPr/>
        </p:nvSpPr>
        <p:spPr>
          <a:xfrm xmlns:a="http://schemas.openxmlformats.org/drawingml/2006/main">
            <a:off x="9505950" y="451485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428"/>
          </a:bodyPr>
          <a:lstStyle xmlns:a="http://schemas.openxmlformats.org/drawingml/2006/main"/>
          <a:p xmlns:a="http://schemas.openxmlformats.org/drawingml/2006/main">
            <a:pPr algn="l">
              <a:lnSpc>
                <a:spcPct val="103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Flow and dataset names must be unique; a naming conflict is a separate error.</a:t>
            </a:r>
          </a:p>
        </p:txBody>
      </p:sp>
      <p:sp>
        <p:nvSpPr>
          <p:cNvPr id="62" name="">
            <a:extLst xmlns:a="http://schemas.openxmlformats.org/drawingml/2006/main">
              <a:ext uri="{FF2B5EF4-FFF2-40B4-BE49-F238E27FC236}">
                <a16:creationId xmlns:a16="http://schemas.microsoft.com/office/drawing/2014/main" id="{DB11E4E4-FD49-41B5-843F-F8C4DA5B7DA8}"/>
              </a:ext>
            </a:extLst>
          </p:cNvPr>
          <p:cNvSpPr>
            <a:spLocks xmlns:a="http://schemas.openxmlformats.org/drawingml/2006/main" noGrp="1"/>
          </p:cNvSpPr>
          <p:nvPr/>
        </p:nvSpPr>
        <p:spPr>
          <a:xfrm xmlns:a="http://schemas.openxmlformats.org/drawingml/2006/main">
            <a:off x="9334500" y="5038725"/>
            <a:ext cx="95250" cy="95250"/>
          </a:xfrm>
          <a:prstGeom xmlns:a="http://schemas.openxmlformats.org/drawingml/2006/main" prst="ellipse">
            <a:avLst/>
          </a:prstGeom>
          <a:solidFill xmlns:a="http://schemas.openxmlformats.org/drawingml/2006/main">
            <a:srgbClr val="C9513D"/>
          </a:solidFill>
          <a:ln xmlns:a="http://schemas.openxmlformats.org/drawingml/2006/main" w="0">
            <a:solidFill>
              <a:srgbClr val="C9513D"/>
            </a:solidFill>
            <a:prstDash val="solid"/>
          </a:ln>
        </p:spPr>
      </p:sp>
      <p:sp>
        <p:nvSpPr>
          <p:cNvPr id="63" name="">
            <a:extLst xmlns:a="http://schemas.openxmlformats.org/drawingml/2006/main">
              <a:ext uri="{FF2B5EF4-FFF2-40B4-BE49-F238E27FC236}">
                <a16:creationId xmlns:a16="http://schemas.microsoft.com/office/drawing/2014/main" id="{E3B5205E-6DC4-4F60-9746-C871381B9C96}"/>
              </a:ext>
            </a:extLst>
          </p:cNvPr>
          <p:cNvSpPr>
            <a:spLocks xmlns:a="http://schemas.openxmlformats.org/drawingml/2006/main" noGrp="1"/>
          </p:cNvSpPr>
          <p:nvPr/>
        </p:nvSpPr>
        <p:spPr>
          <a:xfrm xmlns:a="http://schemas.openxmlformats.org/drawingml/2006/main">
            <a:off x="9505950" y="4962525"/>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ForEachBatch cannot track or clean up the external target.</a:t>
            </a:r>
          </a:p>
        </p:txBody>
      </p:sp>
      <p:sp>
        <p:nvSpPr>
          <p:cNvPr id="64" name="">
            <a:extLst xmlns:a="http://schemas.openxmlformats.org/drawingml/2006/main">
              <a:ext uri="{FF2B5EF4-FFF2-40B4-BE49-F238E27FC236}">
                <a16:creationId xmlns:a16="http://schemas.microsoft.com/office/drawing/2014/main" id="{61F84F00-4B64-4875-9AAA-9FA0EA869F5A}"/>
              </a:ext>
            </a:extLst>
          </p:cNvPr>
          <p:cNvSpPr>
            <a:spLocks xmlns:a="http://schemas.openxmlformats.org/drawingml/2006/main" noGrp="1"/>
          </p:cNvSpPr>
          <p:nvPr/>
        </p:nvSpPr>
        <p:spPr>
          <a:xfrm xmlns:a="http://schemas.openxmlformats.org/drawingml/2006/main">
            <a:off x="9334500" y="5486400"/>
            <a:ext cx="95250" cy="95250"/>
          </a:xfrm>
          <a:prstGeom xmlns:a="http://schemas.openxmlformats.org/drawingml/2006/main" prst="ellipse">
            <a:avLst/>
          </a:prstGeom>
          <a:solidFill xmlns:a="http://schemas.openxmlformats.org/drawingml/2006/main">
            <a:srgbClr val="C9513D"/>
          </a:solidFill>
          <a:ln xmlns:a="http://schemas.openxmlformats.org/drawingml/2006/main" w="0">
            <a:solidFill>
              <a:srgbClr val="C9513D"/>
            </a:solidFill>
            <a:prstDash val="solid"/>
          </a:ln>
        </p:spPr>
      </p:sp>
      <p:sp>
        <p:nvSpPr>
          <p:cNvPr id="65" name="">
            <a:extLst xmlns:a="http://schemas.openxmlformats.org/drawingml/2006/main">
              <a:ext uri="{FF2B5EF4-FFF2-40B4-BE49-F238E27FC236}">
                <a16:creationId xmlns:a16="http://schemas.microsoft.com/office/drawing/2014/main" id="{1D5232AF-2475-4C93-B745-B88FE05AA1A0}"/>
              </a:ext>
            </a:extLst>
          </p:cNvPr>
          <p:cNvSpPr>
            <a:spLocks xmlns:a="http://schemas.openxmlformats.org/drawingml/2006/main" noGrp="1"/>
          </p:cNvSpPr>
          <p:nvPr/>
        </p:nvSpPr>
        <p:spPr>
          <a:xfrm xmlns:a="http://schemas.openxmlformats.org/drawingml/2006/main">
            <a:off x="9505950" y="541020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Full refresh resets checkpoints; batch_id starts again at 0.</a:t>
            </a:r>
          </a:p>
        </p:txBody>
      </p:sp>
      <p:sp>
        <p:nvSpPr>
          <p:cNvPr id="66" name="">
            <a:extLst xmlns:a="http://schemas.openxmlformats.org/drawingml/2006/main">
              <a:ext uri="{FF2B5EF4-FFF2-40B4-BE49-F238E27FC236}">
                <a16:creationId xmlns:a16="http://schemas.microsoft.com/office/drawing/2014/main" id="{AB5766CB-0E89-4690-9541-4C1DCFC7DA0E}"/>
              </a:ext>
            </a:extLst>
          </p:cNvPr>
          <p:cNvSpPr>
            <a:spLocks xmlns:a="http://schemas.openxmlformats.org/drawingml/2006/main" noGrp="1"/>
          </p:cNvSpPr>
          <p:nvPr/>
        </p:nvSpPr>
        <p:spPr>
          <a:xfrm xmlns:a="http://schemas.openxmlformats.org/drawingml/2006/main">
            <a:off x="9334500" y="5934075"/>
            <a:ext cx="95250" cy="95250"/>
          </a:xfrm>
          <a:prstGeom xmlns:a="http://schemas.openxmlformats.org/drawingml/2006/main" prst="ellipse">
            <a:avLst/>
          </a:prstGeom>
          <a:solidFill xmlns:a="http://schemas.openxmlformats.org/drawingml/2006/main">
            <a:srgbClr val="D98022"/>
          </a:solidFill>
          <a:ln xmlns:a="http://schemas.openxmlformats.org/drawingml/2006/main" w="0">
            <a:solidFill>
              <a:srgbClr val="D98022"/>
            </a:solidFill>
            <a:prstDash val="solid"/>
          </a:ln>
        </p:spPr>
      </p:sp>
      <p:sp>
        <p:nvSpPr>
          <p:cNvPr id="67" name="">
            <a:extLst xmlns:a="http://schemas.openxmlformats.org/drawingml/2006/main">
              <a:ext uri="{FF2B5EF4-FFF2-40B4-BE49-F238E27FC236}">
                <a16:creationId xmlns:a16="http://schemas.microsoft.com/office/drawing/2014/main" id="{5104EDCA-DC51-4D89-B5A3-8E7947B65E06}"/>
              </a:ext>
            </a:extLst>
          </p:cNvPr>
          <p:cNvSpPr>
            <a:spLocks xmlns:a="http://schemas.openxmlformats.org/drawingml/2006/main" noGrp="1"/>
          </p:cNvSpPr>
          <p:nvPr/>
        </p:nvSpPr>
        <p:spPr>
          <a:xfrm xmlns:a="http://schemas.openxmlformats.org/drawingml/2006/main">
            <a:off x="9505950" y="5857875"/>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887"/>
          </a:bodyPr>
          <a:lstStyle xmlns:a="http://schemas.openxmlformats.org/drawingml/2006/main"/>
          <a:p xmlns:a="http://schemas.openxmlformats.org/drawingml/2006/main">
            <a:pPr algn="l">
              <a:lnSpc>
                <a:spcPct val="103000"/>
              </a:lnSpc>
              <a:buNone/>
              <a:defRPr sz="1088" b="0">
                <a:solidFill>
                  <a:srgbClr val="24384A"/>
                </a:solidFill>
                <a:latin typeface="Nimbus Sans"/>
                <a:ea typeface="Nimbus Sans"/>
                <a:cs typeface="Nimbus Sans"/>
              </a:defRPr>
            </a:pPr>
            <a:r>
              <a:rPr sz="1088" b="0">
                <a:solidFill>
                  <a:srgbClr val="24384A"/>
                </a:solidFill>
                <a:latin typeface="Nimbus Sans"/>
                <a:ea typeface="Nimbus Sans"/>
                <a:cs typeface="Nimbus Sans"/>
              </a:rPr>
              <a:t>Append backfills can duplicate data. Use MERGE or replace the date slice.</a:t>
            </a:r>
          </a:p>
        </p:txBody>
      </p:sp>
    </p:spTree>
    <p:extLst>
      <p:ext uri="{BB962C8B-B14F-4D97-AF65-F5344CB8AC3E}">
        <p14:creationId xmlns:p14="http://schemas.microsoft.com/office/powerpoint/2010/main" val="3883894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2026-09-18T12:36:54.2370000Z</dcterms:created>
  <dcterms:modified xsi:type="dcterms:W3CDTF">2026-09-18T12:36:54.2370000Z</dcterms:modified>
</coreProperties>
</file>