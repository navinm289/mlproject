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923236f32a477b" /><Relationship Type="http://schemas.openxmlformats.org/officeDocument/2006/relationships/extended-properties" Target="/docProps/app.xml" Id="R916d25ffffa24c51" /><Relationship Type="http://schemas.openxmlformats.org/officeDocument/2006/relationships/officeDocument" Target="/ppt/presentation.xml" Id="R60139c1aac9b45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93083bfc94b2e"/>
  </p:sldMasterIdLst>
  <p:notesMasterIdLst>
    <p:notesMasterId xmlns:r="http://schemas.openxmlformats.org/officeDocument/2006/relationships" r:id="R93090fbfdb9e40d3"/>
  </p:notesMasterIdLst>
  <p:sldIdLst>
    <p:sldId xmlns:r="http://schemas.openxmlformats.org/officeDocument/2006/relationships" id="256" r:id="Rd3c77a2bf34646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0cdd688fed41f7" /><Relationship Type="http://schemas.openxmlformats.org/officeDocument/2006/relationships/slideMaster" Target="/ppt/slideMasters/slideMaster1.xml" Id="Rbb393083bfc94b2e" /><Relationship Type="http://schemas.openxmlformats.org/officeDocument/2006/relationships/notesMaster" Target="/ppt/notesMasters/notesMaster1.xml" Id="R93090fbfdb9e40d3" /><Relationship Type="http://schemas.openxmlformats.org/officeDocument/2006/relationships/presProps" Target="/ppt/presProps.xml" Id="Rcbd45d0600e14d7b" /><Relationship Type="http://schemas.openxmlformats.org/officeDocument/2006/relationships/tableStyles" Target="/ppt/tableStyles.xml" Id="R32670749542d4891" /><Relationship Type="http://schemas.openxmlformats.org/officeDocument/2006/relationships/slide" Target="/ppt/slides/slide1.xml" Id="Rd3c77a2bf34646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b9348c68b948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3f59fe828a41e6" /><Relationship Type="http://schemas.openxmlformats.org/officeDocument/2006/relationships/notesMaster" Target="/ppt/notesMasters/notesMaster1.xml" Id="Rdfe1374d5573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 — Both options use Auto Loader to incrementally read the same S3 CSV files. The difference is who operates the 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0:20–0:55 — In the standalone task, our application defines readStream, transformations, and writeStream. One query checkpoint carries source progress and recovery state. We own its location, triggers, retries, and monitoring.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0:55–1:30 — In the Declarative Pipeline, we declare Auto Loader, Bronze, and Silver datasets. The pipeline manages checkpoints, state, dependency order, execution, and recovery across the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1:30–1:50 — Important serverless distinction: notebooks and jobs use AvailableNow rather than time-based continuous triggers; serverless pipelines support scheduled/triggered and continuous modes.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1:50–2:00 — Recommendation: use the Declarative Pipeline for governed Bronze-to-Silver production processing, with standalone reserved for exceptional control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https://docs.databricks.com/aws/en/compute/serverless/limitations</a:t>
            </a:r>
          </a:p>
          <a:p xmlns:a="http://schemas.openxmlformats.org/drawingml/2006/main">
            <a:r>
              <a:t>- https://docs.databricks.com/aws/en/compute/serverless/streaming</a:t>
            </a:r>
          </a:p>
          <a:p xmlns:a="http://schemas.openxmlformats.org/drawingml/2006/main">
            <a:r>
              <a:t>- https://docs.databricks.com/aws/en/ldp/serverless</a:t>
            </a:r>
          </a:p>
          <a:p xmlns:a="http://schemas.openxmlformats.org/drawingml/2006/main">
            <a:r>
              <a:t>- https://docs.databricks.com/aws/en/ldp/concepts/pipeline-mode</a:t>
            </a:r>
          </a:p>
          <a:p xmlns:a="http://schemas.openxmlformats.org/drawingml/2006/main">
            <a:r>
              <a:t>- https://docs.databricks.com/aws/en/ingestion/cloud-object-storage/auto-loader/production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b4abf210a46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b76abc247142f6" /><Relationship Type="http://schemas.openxmlformats.org/officeDocument/2006/relationships/slideLayout" Target="/ppt/slideLayouts/slideLayout1.xml" Id="R91bbb46ad6d14b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bbb46ad6d14b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2c05f42e8458f" /><Relationship Type="http://schemas.openxmlformats.org/officeDocument/2006/relationships/notesSlide" Target="/ppt/notesSlides/notesSlide1.xml" Id="R1e30cd89666543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88E93-2E32-48EB-94E2-4022ABA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TWO-MINUTE DECISION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3F6DA-F2F2-4C58-A3ED-008F276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 Loader: standalone task vs Declarative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86497-BDB4-4302-B028-189B1A3A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Same CSV source. Different ownership of execution, checkpoints, dependencies, and recovery.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8030B-B5C0-47D8-B835-0979011A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54102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E164B-1DE7-4842-882B-C13C4FB7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44B88-E543-4ECB-B8D9-4F14A356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STANDALONE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50F4A-8B55-40E6-B75E-DAEE976E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Application controls the query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DC72C-3B3B-4617-85EA-91BB61D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05000"/>
            <a:ext cx="57150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9525">
            <a:solidFill>
              <a:srgbClr val="DDF3F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67C3A-6150-431B-AFF1-71867141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19207-4A91-480E-BDE5-009A8363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DECLARATIVE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01E24-345B-4410-85BA-144C5677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Pipeline controls the lifecycle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ED7CA-A281-4298-A838-4FE96D99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1391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692369-9FE1-46F2-B739-50E5E862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02B58-5557-41C7-889F-F7802069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197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Declarative Pipeline for governed Bronze → Silver; use standalone only when bespoke control is required.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8ECC83-AAFA-4E51-93A6-B220F99C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38525"/>
            <a:ext cx="1619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071"/>
          </a:solidFill>
          <a:ln xmlns:a="http://schemas.openxmlformats.org/drawingml/2006/main" w="0">
            <a:solidFill>
              <a:srgbClr val="53607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BCA902-67D3-4F63-88A3-B0B8F73D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38525"/>
            <a:ext cx="1619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071"/>
          </a:solidFill>
          <a:ln xmlns:a="http://schemas.openxmlformats.org/drawingml/2006/main" w="0">
            <a:solidFill>
              <a:srgbClr val="53607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7A1809-6B82-4267-AE37-E8200C9F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38525"/>
            <a:ext cx="1619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071"/>
          </a:solidFill>
          <a:ln xmlns:a="http://schemas.openxmlformats.org/drawingml/2006/main" w="0">
            <a:solidFill>
              <a:srgbClr val="5360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DA995D-2949-4411-991B-969C34AB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385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071"/>
          </a:solidFill>
          <a:ln xmlns:a="http://schemas.openxmlformats.org/drawingml/2006/main" w="0">
            <a:solidFill>
              <a:srgbClr val="53607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4764D-A60A-4DE4-87C3-DCC9756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385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071"/>
          </a:solidFill>
          <a:ln xmlns:a="http://schemas.openxmlformats.org/drawingml/2006/main" w="0">
            <a:solidFill>
              <a:srgbClr val="53607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4D325A-06B9-4348-BB3F-A0D3F01B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071"/>
          </a:solidFill>
          <a:ln xmlns:a="http://schemas.openxmlformats.org/drawingml/2006/main" w="0">
            <a:solidFill>
              <a:srgbClr val="53607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E3D4C9-E3BC-4771-82DD-3415A37C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000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7E276A-DEAD-4160-A546-CB3C7C74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88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266989-ECB3-457B-8FDE-A8D56C9A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88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CSV files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CAD007-93A5-470E-BACF-3F1B6BDA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1000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03F770-8C08-4EB9-85AE-DB74EAE0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76600"/>
            <a:ext cx="88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 Loader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561D72-D32E-4E39-BD55-A3CD9E0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05200"/>
            <a:ext cx="88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readStream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1E5B61-7CB5-4B2A-8FBC-7D76082E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00400"/>
            <a:ext cx="1000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FEDF8D-7B75-4A98-A4B6-8AF1B409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88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Transform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C33E64-5151-44EB-80D5-A6496D16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05200"/>
            <a:ext cx="88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app code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4CEFF5-9BCC-45F9-A79B-A083444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123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5EF"/>
          </a:solidFill>
          <a:ln xmlns:a="http://schemas.openxmlformats.org/drawingml/2006/main" w="9525">
            <a:solidFill>
              <a:srgbClr val="0E8A6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7F4CD2-6869-468D-99AB-B0AE8DC8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BCD4C7-5AF3-4608-A170-972DA51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052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writeStream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12930A-D823-4477-AB1D-5DB9E76B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7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query checkpoint • app owns trigger, path, retries, and monitoring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B2AD87-9A7B-4DB2-9D03-53ECB361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476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B667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95B8BB-A774-45CA-823B-74EE08D7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66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66700"/>
                </a:solidFill>
                <a:latin typeface="Helvetica Neue"/>
                <a:ea typeface="Helvetica Neue"/>
                <a:cs typeface="Helvetica Neue"/>
              </a:rPr>
              <a:t>Serverless job: AvailableNow—not a time-based continuous trigger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31C1DB-401A-455E-B934-7DE5B2F3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104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C7C19C-FE82-497E-8A7D-C3735C2A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736540-CA47-4537-945C-A400744B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CSV files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00336F-F47A-445F-B1D1-6E852A22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104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B2754A-4C91-4502-8949-92DD9BE3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766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 Loader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74519D-CF92-4313-97E2-FA2701FE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052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incremental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92F72B-E272-4081-858C-23928E9E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00400"/>
            <a:ext cx="104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8666DB-B9FB-47CC-8746-7CB3A9FA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BRONZE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6A35DA-0476-4234-8BCC-FE00E081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streaming table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EDD621-D769-4582-B99D-EEEF595A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00400"/>
            <a:ext cx="104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5EF"/>
          </a:solidFill>
          <a:ln xmlns:a="http://schemas.openxmlformats.org/drawingml/2006/main" w="9525">
            <a:solidFill>
              <a:srgbClr val="0E8A6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B3192A-728B-4FDF-98F0-6F33455C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766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SILVER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898E60-7B06-4A38-B82E-71EEFA44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052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validated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A0235F-5F4A-43C6-A553-67106C70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Pipeline-managed checkpoints, state, dependency order, and recovery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C9B435-2406-4BA6-8780-77260D41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495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3FD"/>
          </a:solidFill>
          <a:ln xmlns:a="http://schemas.openxmlformats.org/drawingml/2006/main" w="9525">
            <a:solidFill>
              <a:srgbClr val="DDF3F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F0C33D-FA2A-4E00-8A8B-46C0A8CF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5775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Serverless pipeline: scheduled/triggered or continuous</a:t>
            </a:r>
          </a:p>
        </p:txBody>
      </p:sp>
    </p:spTree>
    <p:extLst>
      <p:ext uri="{BB962C8B-B14F-4D97-AF65-F5344CB8AC3E}">
        <p14:creationId xmlns:p14="http://schemas.microsoft.com/office/powerpoint/2010/main" val="1799341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2026-09-04T12:24:05.1510000Z</dcterms:created>
  <dcterms:modified xsi:type="dcterms:W3CDTF">2026-09-04T12:24:05.1510000Z</dcterms:modified>
</coreProperties>
</file>